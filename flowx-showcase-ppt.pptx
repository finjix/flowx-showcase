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E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简历来源：D:\project\resume\export\腾讯特供\index.html（项目背景、目标用户与平台定位）。</a:t>
            </a:r>
          </a:p>
          <a:p>
            <a:r>
              <a:t>- 项目事实：D:\FlowX\README.md（FlowX 为赛事美术 AIGC 工具平台）。</a:t>
            </a:r>
          </a:p>
          <a:p>
            <a:r>
              <a:t>- 本页为项目背景介绍，不使用截图；模块截图在后续页面逐张展示。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截图：D:\xixi\首页1.png</a:t>
            </a:r>
          </a:p>
          <a:p>
            <a:r>
              <a:t>- 项目事实：D:\FlowX\flowx.gz\src\shared\components\AppNavRail.vue、D:\FlowX\flowx.gz\src\domains\catalog\data\toolCatalog.js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</a:t>
            </a:r>
            <a:r>
              <a:rPr dirty="0" err="1"/>
              <a:t>截图：D</a:t>
            </a:r>
            <a:r>
              <a:rPr dirty="0"/>
              <a:t>:\</a:t>
            </a:r>
            <a:r>
              <a:rPr dirty="0" err="1"/>
              <a:t>xixi</a:t>
            </a:r>
            <a:r>
              <a:rPr dirty="0"/>
              <a:t>\首页2.png</a:t>
            </a:r>
          </a:p>
          <a:p>
            <a:r>
              <a:rPr dirty="0"/>
              <a:t>- </a:t>
            </a:r>
            <a:r>
              <a:rPr dirty="0" err="1"/>
              <a:t>项目事实：D</a:t>
            </a:r>
            <a:r>
              <a:rPr dirty="0"/>
              <a:t>:\</a:t>
            </a:r>
            <a:r>
              <a:rPr dirty="0" err="1"/>
              <a:t>FlowX</a:t>
            </a:r>
            <a:r>
              <a:rPr dirty="0"/>
              <a:t>\flowx.gz\</a:t>
            </a:r>
            <a:r>
              <a:rPr dirty="0" err="1"/>
              <a:t>src</a:t>
            </a:r>
            <a:r>
              <a:rPr dirty="0"/>
              <a:t>\router\</a:t>
            </a:r>
            <a:r>
              <a:rPr dirty="0" err="1"/>
              <a:t>index.js、D</a:t>
            </a:r>
            <a:r>
              <a:rPr dirty="0"/>
              <a:t>:\</a:t>
            </a:r>
            <a:r>
              <a:rPr dirty="0" err="1"/>
              <a:t>FlowX</a:t>
            </a:r>
            <a:r>
              <a:rPr dirty="0"/>
              <a:t>\flowx.gz\</a:t>
            </a:r>
            <a:r>
              <a:rPr dirty="0" err="1"/>
              <a:t>src</a:t>
            </a:r>
            <a:r>
              <a:rPr dirty="0"/>
              <a:t>\domains\catalog\data\toolCatalog.js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截图：D:\xixi\游戏回流1.png</a:t>
            </a:r>
          </a:p>
          <a:p>
            <a:r>
              <a:t>- 项目事实：D:\FlowX\flowx.gz\src\modules\game-retention\components\steps\、config\retentionAdTypePresetsData.js、config\gameRetentionWizardConfig.js</a:t>
            </a:r>
          </a:p>
          <a:p>
            <a:r>
              <a:t>- 数据事实：D:\FlowX\flowx.gz\src\modules\game-retention\data\channels\retentionChannels.seed.json（50 个渠道）、D:\FlowX\flowx-api\shared\lib\server\retentionPrompt\scenePrompts\mhxyScenePrompts.seed.json（210 条场景提示词）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截图：D:\xixi\游戏回流2.png</a:t>
            </a:r>
          </a:p>
          <a:p>
            <a:r>
              <a:t>- 项目事实：D:\FlowX\flowx.gz\src\modules\game-retention\config\gameRetentionConstants.js、components\steps\output\OutputSetupStep.vue</a:t>
            </a:r>
          </a:p>
          <a:p>
            <a:r>
              <a:t>- Git 事实核验：7fa89e95、e49a4c34、fdf09616、80eb7f95（A/B、批次稳定性、二次编辑与交付体验）；提交作者不等同于个人职责归属。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截图：D:\xixi\素材管理.png</a:t>
            </a:r>
          </a:p>
          <a:p>
            <a:r>
              <a:t>- 项目事实：D:\FlowX\flowx.gz\src\modules\asset-management\pages\AssetManagementView.vue、api\gameAssetLibraryApi.js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截图：D:\xixi\无限画布.png</a:t>
            </a:r>
          </a:p>
          <a:p>
            <a:r>
              <a:t>- 项目事实：D:\FlowX\flowx.gz\src\modules\infinite-canvas\InfiniteCanvasView.vue、components\CanvasToolRail.vue、toolNode.css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截图：D:\xixi\agent1.png</a:t>
            </a:r>
          </a:p>
          <a:p>
            <a:r>
              <a:t>- 项目事实：D:\FlowX\flowx.gz\src\modules\shabao-assistant\ShabaoAssistantView.vue、agent\executeShabaoTool.js</a:t>
            </a:r>
          </a:p>
          <a:p>
            <a:r>
              <a:t>- Git 事实核验：588f926d、040856e4（Agent 主脑与工作台体验演进）；提交作者不等同于个人职责归属。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截图：D:\xixi\agent2.png</a:t>
            </a:r>
          </a:p>
          <a:p>
            <a:r>
              <a:t>- 项目事实：D:\FlowX\flowx.gz\src\modules\shabao-assistant\agent\generateImage2Tool.js、generateSeedanceTool.js、removeBackgroundTool.js</a:t>
            </a:r>
          </a:p>
          <a:p>
            <a:r>
              <a:t>- 敏感信息：截图中的侧栏信息保留原有遮挡，不进行裁切。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截图：D:\xixi\字体设计.png</a:t>
            </a:r>
          </a:p>
          <a:p>
            <a:r>
              <a:t>- 项目事实：D:\FlowX\flowx.gz\src\modules\font-design\FontDesignView.vue、data\stylePromptParts.js、components\FontStyleGrid.vue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截图：D:\xixi\logo大师1.png</a:t>
            </a:r>
          </a:p>
          <a:p>
            <a:r>
              <a:t>- 项目事实：D:\FlowX\flowx.gz\src\modules\logo-master\pages\LogoCreationPage.vue、components\creation\LogoStyleGrid.vue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截图：D:\xixi\logo大师2.png</a:t>
            </a:r>
          </a:p>
          <a:p>
            <a:r>
              <a:t>- 项目事实：D:\FlowX\flowx.gz\src\modules\logo-master\components\creation\LogoCreationForm.vue、LogoCreationResultPanel.vue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截图：D:\xixi\logo大师3.png</a:t>
            </a:r>
          </a:p>
          <a:p>
            <a:r>
              <a:t>- 项目事实：D:\FlowX\flowx.gz\src\modules\logo-master\pages\BatchExtensionPage.vue、components\LogoBatchHistoryRail.vue</a:t>
            </a:r>
          </a:p>
          <a:p>
            <a:r>
              <a:t>- Git 事实核验：2c791903（统一 Logo composition 合成工作台）；提交作者不等同于个人职责归属。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截图：D:\xixi\h5长图.png</a:t>
            </a:r>
          </a:p>
          <a:p>
            <a:r>
              <a:t>- 项目事实：D:\FlowX\flowx.gz\src\modules\h5-image\H5ImageView.vue、components\ModuleEditPanel.vue、ExportToolbar.vue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截图：D:\xixi\动效制作.png</a:t>
            </a:r>
          </a:p>
          <a:p>
            <a:r>
              <a:t>- 项目事实：D:\FlowX\flowx.gz\src\modules\effects-studio\EffectsStudioView.vue、components\EffectControls.vue、export\ExportPanel.vue</a:t>
            </a:r>
          </a:p>
          <a:p>
            <a:r>
              <a:t>- Git 事实核验：f7fb435e、bd14ed76（动效工作台与媒体导出）；提交作者不等同于个人职责归属。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截图：D:\xixi\分镜助手1.png</a:t>
            </a:r>
          </a:p>
          <a:p>
            <a:r>
              <a:t>- 项目事实：D:\FlowX\flowx.gz\src\modules\video-creation\pages\StoryboardPage.vue、data\storyboardConfig.js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截图：D:\xixi\分镜助手2.png</a:t>
            </a:r>
          </a:p>
          <a:p>
            <a:r>
              <a:t>- 项目事实：D:\FlowX\flowx.gz\src\modules\video-creation\composables\useStoryboard.js、data\storyboardConfig.js</a:t>
            </a:r>
          </a:p>
          <a:p>
            <a:r>
              <a:t>- 敏感信息：截图中的 Token 已保持原有遮挡。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截图：D:\xixi\分镜助手3.png</a:t>
            </a:r>
          </a:p>
          <a:p>
            <a:r>
              <a:t>- 项目事实：D:\FlowX\flowx.gz\src\modules\video-creation\pages\StoryboardPage.vue、composables\useStoryboardStorage.js</a:t>
            </a:r>
          </a:p>
          <a:p>
            <a:r>
              <a:t>- Git 事实核验：2ae55c1f（视频创作任务状态与恢复）；提交作者不等同于个人职责归属。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截图：D:\xixi\渲染机管理.png</a:t>
            </a:r>
          </a:p>
          <a:p>
            <a:r>
              <a:t>- 项目事实：D:\FlowX\flowx.gz\src\modules\admin-backend-nodes\BackendNodeManagementView.vue、api\backendNodeAdminApi.js</a:t>
            </a:r>
          </a:p>
          <a:p>
            <a:r>
              <a:t>- 敏感信息：截图中的节点名称保留原有遮挡。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截图：D:\xixi\skill.png</a:t>
            </a:r>
          </a:p>
          <a:p>
            <a:r>
              <a:t>- 项目事实：D:\FlowX\README.md、D:\FlowX\skills-pack\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用户提供的项目成果数据：累计调用 1w+ 次、产出素材 4w+ 份。</a:t>
            </a:r>
          </a:p>
          <a:p>
            <a:r>
              <a:t>- 简历来源：D:\project\resume\export\腾讯特供\index.html（20+ 款游戏、64 个渠道、12–15 分钟最多 128 张素材、614 条场景数据）。</a:t>
            </a:r>
          </a:p>
          <a:p>
            <a:r>
              <a:t>- 项目事实：D:\FlowX\README.md。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用户要求：联系方式暂使用可编辑占位符，不放入简历中的真实联系方式。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ackground-accent">
            <a:extLst>
              <a:ext uri="{FF2B5EF4-FFF2-40B4-BE49-F238E27FC236}">
                <a16:creationId xmlns:a16="http://schemas.microsoft.com/office/drawing/2014/main" id="{E09C465F-B4C3-4541-B0F9-F3C46C259E40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  <p:sp>
        <p:nvSpPr>
          <p:cNvPr id="3" name="background-title">
            <a:extLst>
              <a:ext uri="{FF2B5EF4-FFF2-40B4-BE49-F238E27FC236}">
                <a16:creationId xmlns:a16="http://schemas.microsoft.com/office/drawing/2014/main" id="{A39A24FD-F762-4EA4-B47E-BE3E302A6075}"/>
              </a:ext>
            </a:extLst>
          </p:cNvPr>
          <p:cNvSpPr>
            <a:spLocks noGrp="1"/>
          </p:cNvSpPr>
          <p:nvPr/>
        </p:nvSpPr>
        <p:spPr>
          <a:xfrm>
            <a:off x="623792" y="638175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4F5F7"/>
                </a:solidFill>
              </a:defRPr>
            </a:pPr>
            <a:r>
              <a:rPr sz="3000" b="1" dirty="0" err="1">
                <a:solidFill>
                  <a:srgbClr val="F4F5F7"/>
                </a:solidFill>
              </a:rPr>
              <a:t>FlowX：把</a:t>
            </a:r>
            <a:r>
              <a:rPr sz="3000" b="1" dirty="0">
                <a:solidFill>
                  <a:srgbClr val="F4F5F7"/>
                </a:solidFill>
              </a:rPr>
              <a:t> AI </a:t>
            </a:r>
            <a:r>
              <a:rPr sz="3000" b="1" dirty="0" err="1">
                <a:solidFill>
                  <a:srgbClr val="F4F5F7"/>
                </a:solidFill>
              </a:rPr>
              <a:t>能力变成</a:t>
            </a:r>
            <a:r>
              <a:rPr lang="zh-CN" altLang="en-US" sz="3000" b="1" dirty="0">
                <a:solidFill>
                  <a:srgbClr val="F4F5F7"/>
                </a:solidFill>
              </a:rPr>
              <a:t>便捷的</a:t>
            </a:r>
            <a:r>
              <a:rPr sz="3000" b="1" dirty="0" err="1">
                <a:solidFill>
                  <a:srgbClr val="F4F5F7"/>
                </a:solidFill>
              </a:rPr>
              <a:t>生产工具</a:t>
            </a:r>
            <a:endParaRPr sz="3000" b="1" dirty="0">
              <a:solidFill>
                <a:srgbClr val="F4F5F7"/>
              </a:solidFill>
            </a:endParaRPr>
          </a:p>
        </p:txBody>
      </p:sp>
      <p:sp>
        <p:nvSpPr>
          <p:cNvPr id="4" name="background-header-line">
            <a:extLst>
              <a:ext uri="{FF2B5EF4-FFF2-40B4-BE49-F238E27FC236}">
                <a16:creationId xmlns:a16="http://schemas.microsoft.com/office/drawing/2014/main" id="{4AEF1276-AD18-402E-BE15-2A097EBBBDC7}"/>
              </a:ext>
            </a:extLst>
          </p:cNvPr>
          <p:cNvSpPr>
            <a:spLocks noGrp="1"/>
          </p:cNvSpPr>
          <p:nvPr/>
        </p:nvSpPr>
        <p:spPr>
          <a:xfrm>
            <a:off x="666750" y="1356226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background-lead">
            <a:extLst>
              <a:ext uri="{FF2B5EF4-FFF2-40B4-BE49-F238E27FC236}">
                <a16:creationId xmlns:a16="http://schemas.microsoft.com/office/drawing/2014/main" id="{04C787BE-B988-49F2-BB07-7DF1A2FF77A2}"/>
              </a:ext>
            </a:extLst>
          </p:cNvPr>
          <p:cNvSpPr>
            <a:spLocks noGrp="1"/>
          </p:cNvSpPr>
          <p:nvPr/>
        </p:nvSpPr>
        <p:spPr>
          <a:xfrm>
            <a:off x="629929" y="1587159"/>
            <a:ext cx="691847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4FE0A0"/>
                </a:solidFill>
              </a:defRPr>
            </a:pPr>
            <a:r>
              <a:rPr lang="zh-CN" altLang="en-US" sz="1500" b="1" dirty="0">
                <a:solidFill>
                  <a:srgbClr val="4FE0A0"/>
                </a:solidFill>
              </a:rPr>
              <a:t>面向游戏运营与设计团队，整合并封装 </a:t>
            </a:r>
            <a:r>
              <a:rPr lang="en-US" altLang="zh-CN" sz="1500" b="1" dirty="0">
                <a:solidFill>
                  <a:srgbClr val="4FE0A0"/>
                </a:solidFill>
              </a:rPr>
              <a:t>AI </a:t>
            </a:r>
            <a:r>
              <a:rPr lang="zh-CN" altLang="en-US" sz="1500" b="1" dirty="0">
                <a:solidFill>
                  <a:srgbClr val="4FE0A0"/>
                </a:solidFill>
              </a:rPr>
              <a:t>图像、视频等模型能力，降低模型使用门槛，为内容生产提供可复用、可交付的工作流</a:t>
            </a:r>
          </a:p>
        </p:txBody>
      </p:sp>
      <p:sp>
        <p:nvSpPr>
          <p:cNvPr id="18" name="contribution-track-title">
            <a:extLst>
              <a:ext uri="{FF2B5EF4-FFF2-40B4-BE49-F238E27FC236}">
                <a16:creationId xmlns:a16="http://schemas.microsoft.com/office/drawing/2014/main" id="{399047B2-C6BB-3400-469B-C63C882D3CC2}"/>
              </a:ext>
            </a:extLst>
          </p:cNvPr>
          <p:cNvSpPr>
            <a:spLocks noGrp="1"/>
          </p:cNvSpPr>
          <p:nvPr/>
        </p:nvSpPr>
        <p:spPr>
          <a:xfrm>
            <a:off x="623792" y="2851491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sz="1800" b="1" dirty="0">
                <a:solidFill>
                  <a:srgbClr val="F4F5F7"/>
                </a:solidFill>
              </a:rPr>
              <a:t>4 </a:t>
            </a:r>
            <a:r>
              <a:rPr sz="1800" b="1" dirty="0" err="1">
                <a:solidFill>
                  <a:srgbClr val="F4F5F7"/>
                </a:solidFill>
              </a:rPr>
              <a:t>条核心负责方向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19" name="contribution-track-number-0">
            <a:extLst>
              <a:ext uri="{FF2B5EF4-FFF2-40B4-BE49-F238E27FC236}">
                <a16:creationId xmlns:a16="http://schemas.microsoft.com/office/drawing/2014/main" id="{A2EFBA70-3DA0-D23F-23D8-53FA5672C112}"/>
              </a:ext>
            </a:extLst>
          </p:cNvPr>
          <p:cNvSpPr>
            <a:spLocks noGrp="1"/>
          </p:cNvSpPr>
          <p:nvPr/>
        </p:nvSpPr>
        <p:spPr>
          <a:xfrm>
            <a:off x="623792" y="332774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01</a:t>
            </a:r>
          </a:p>
        </p:txBody>
      </p:sp>
      <p:sp>
        <p:nvSpPr>
          <p:cNvPr id="20" name="contribution-track-0">
            <a:extLst>
              <a:ext uri="{FF2B5EF4-FFF2-40B4-BE49-F238E27FC236}">
                <a16:creationId xmlns:a16="http://schemas.microsoft.com/office/drawing/2014/main" id="{DAB0D575-6CF3-2B2B-CC66-B8E10D872AA4}"/>
              </a:ext>
            </a:extLst>
          </p:cNvPr>
          <p:cNvSpPr>
            <a:spLocks noGrp="1"/>
          </p:cNvSpPr>
          <p:nvPr/>
        </p:nvSpPr>
        <p:spPr>
          <a:xfrm>
            <a:off x="1061942" y="330869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>
                <a:solidFill>
                  <a:srgbClr val="F4F5F7"/>
                </a:solidFill>
              </a:rPr>
              <a:t>AI 工作流与素材生产：模板化编辑、批量生成与交付链路</a:t>
            </a:r>
          </a:p>
        </p:txBody>
      </p:sp>
      <p:sp>
        <p:nvSpPr>
          <p:cNvPr id="21" name="contribution-track-line-0">
            <a:extLst>
              <a:ext uri="{FF2B5EF4-FFF2-40B4-BE49-F238E27FC236}">
                <a16:creationId xmlns:a16="http://schemas.microsoft.com/office/drawing/2014/main" id="{A5C2802E-CADB-8CB3-A1C1-865F3742E331}"/>
              </a:ext>
            </a:extLst>
          </p:cNvPr>
          <p:cNvSpPr>
            <a:spLocks noGrp="1"/>
          </p:cNvSpPr>
          <p:nvPr/>
        </p:nvSpPr>
        <p:spPr>
          <a:xfrm>
            <a:off x="1061942" y="370874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2" name="contribution-track-number-1">
            <a:extLst>
              <a:ext uri="{FF2B5EF4-FFF2-40B4-BE49-F238E27FC236}">
                <a16:creationId xmlns:a16="http://schemas.microsoft.com/office/drawing/2014/main" id="{303D0837-BD58-1718-C2FA-8F79B3D230AF}"/>
              </a:ext>
            </a:extLst>
          </p:cNvPr>
          <p:cNvSpPr>
            <a:spLocks noGrp="1"/>
          </p:cNvSpPr>
          <p:nvPr/>
        </p:nvSpPr>
        <p:spPr>
          <a:xfrm>
            <a:off x="623792" y="388019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02</a:t>
            </a:r>
          </a:p>
        </p:txBody>
      </p:sp>
      <p:sp>
        <p:nvSpPr>
          <p:cNvPr id="23" name="contribution-track-1">
            <a:extLst>
              <a:ext uri="{FF2B5EF4-FFF2-40B4-BE49-F238E27FC236}">
                <a16:creationId xmlns:a16="http://schemas.microsoft.com/office/drawing/2014/main" id="{775418AE-BA49-C08C-794E-0C3EC43303FF}"/>
              </a:ext>
            </a:extLst>
          </p:cNvPr>
          <p:cNvSpPr>
            <a:spLocks noGrp="1"/>
          </p:cNvSpPr>
          <p:nvPr/>
        </p:nvSpPr>
        <p:spPr>
          <a:xfrm>
            <a:off x="1061942" y="386114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>
                <a:solidFill>
                  <a:srgbClr val="F4F5F7"/>
                </a:solidFill>
              </a:rPr>
              <a:t>DCC </a:t>
            </a:r>
            <a:r>
              <a:rPr sz="1275" b="1" dirty="0" err="1">
                <a:solidFill>
                  <a:srgbClr val="F4F5F7"/>
                </a:solidFill>
              </a:rPr>
              <a:t>插件与渲染管线：AE</a:t>
            </a:r>
            <a:r>
              <a:rPr sz="1275" b="1" dirty="0">
                <a:solidFill>
                  <a:srgbClr val="F4F5F7"/>
                </a:solidFill>
              </a:rPr>
              <a:t> / Blender </a:t>
            </a:r>
            <a:r>
              <a:rPr sz="1275" b="1" dirty="0" err="1">
                <a:solidFill>
                  <a:srgbClr val="F4F5F7"/>
                </a:solidFill>
              </a:rPr>
              <a:t>插件与</a:t>
            </a:r>
            <a:r>
              <a:rPr lang="zh-CN" altLang="en-US" sz="1275" b="1" dirty="0">
                <a:solidFill>
                  <a:srgbClr val="F4F5F7"/>
                </a:solidFill>
              </a:rPr>
              <a:t>自动渲染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24" name="contribution-track-line-1">
            <a:extLst>
              <a:ext uri="{FF2B5EF4-FFF2-40B4-BE49-F238E27FC236}">
                <a16:creationId xmlns:a16="http://schemas.microsoft.com/office/drawing/2014/main" id="{3DB58518-14BA-3D0A-6621-ACE87AC05FFA}"/>
              </a:ext>
            </a:extLst>
          </p:cNvPr>
          <p:cNvSpPr>
            <a:spLocks noGrp="1"/>
          </p:cNvSpPr>
          <p:nvPr/>
        </p:nvSpPr>
        <p:spPr>
          <a:xfrm>
            <a:off x="1061942" y="426119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5" name="contribution-track-number-2">
            <a:extLst>
              <a:ext uri="{FF2B5EF4-FFF2-40B4-BE49-F238E27FC236}">
                <a16:creationId xmlns:a16="http://schemas.microsoft.com/office/drawing/2014/main" id="{299AAF70-1225-BAE8-80B9-5073BAEB0BD9}"/>
              </a:ext>
            </a:extLst>
          </p:cNvPr>
          <p:cNvSpPr>
            <a:spLocks noGrp="1"/>
          </p:cNvSpPr>
          <p:nvPr/>
        </p:nvSpPr>
        <p:spPr>
          <a:xfrm>
            <a:off x="623792" y="443264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03</a:t>
            </a:r>
          </a:p>
        </p:txBody>
      </p:sp>
      <p:sp>
        <p:nvSpPr>
          <p:cNvPr id="26" name="contribution-track-2">
            <a:extLst>
              <a:ext uri="{FF2B5EF4-FFF2-40B4-BE49-F238E27FC236}">
                <a16:creationId xmlns:a16="http://schemas.microsoft.com/office/drawing/2014/main" id="{8D34BE9F-0B75-04C9-41F1-C94CCA426100}"/>
              </a:ext>
            </a:extLst>
          </p:cNvPr>
          <p:cNvSpPr>
            <a:spLocks noGrp="1"/>
          </p:cNvSpPr>
          <p:nvPr/>
        </p:nvSpPr>
        <p:spPr>
          <a:xfrm>
            <a:off x="1061942" y="441359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 err="1">
                <a:solidFill>
                  <a:srgbClr val="F4F5F7"/>
                </a:solidFill>
              </a:rPr>
              <a:t>模型部署与节点调度：提交、推理、进度、回传与异常处理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27" name="contribution-track-line-2">
            <a:extLst>
              <a:ext uri="{FF2B5EF4-FFF2-40B4-BE49-F238E27FC236}">
                <a16:creationId xmlns:a16="http://schemas.microsoft.com/office/drawing/2014/main" id="{EC76694B-7BE6-71A9-4BC5-C53F5DDE38B6}"/>
              </a:ext>
            </a:extLst>
          </p:cNvPr>
          <p:cNvSpPr>
            <a:spLocks noGrp="1"/>
          </p:cNvSpPr>
          <p:nvPr/>
        </p:nvSpPr>
        <p:spPr>
          <a:xfrm>
            <a:off x="1061942" y="4813641"/>
            <a:ext cx="56197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28" name="contribution-track-number-3">
            <a:extLst>
              <a:ext uri="{FF2B5EF4-FFF2-40B4-BE49-F238E27FC236}">
                <a16:creationId xmlns:a16="http://schemas.microsoft.com/office/drawing/2014/main" id="{4671BBC0-99E1-AA2B-F74F-F4666286B7E3}"/>
              </a:ext>
            </a:extLst>
          </p:cNvPr>
          <p:cNvSpPr>
            <a:spLocks noGrp="1"/>
          </p:cNvSpPr>
          <p:nvPr/>
        </p:nvSpPr>
        <p:spPr>
          <a:xfrm>
            <a:off x="623792" y="4985091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8FF00"/>
                </a:solidFill>
              </a:defRPr>
            </a:pPr>
            <a:r>
              <a:rPr sz="975" b="1">
                <a:solidFill>
                  <a:srgbClr val="C8FF00"/>
                </a:solidFill>
              </a:rPr>
              <a:t>04</a:t>
            </a:r>
          </a:p>
        </p:txBody>
      </p:sp>
      <p:sp>
        <p:nvSpPr>
          <p:cNvPr id="29" name="contribution-track-3">
            <a:extLst>
              <a:ext uri="{FF2B5EF4-FFF2-40B4-BE49-F238E27FC236}">
                <a16:creationId xmlns:a16="http://schemas.microsoft.com/office/drawing/2014/main" id="{B789A881-CF8A-86DF-9A93-EE2D908FF19C}"/>
              </a:ext>
            </a:extLst>
          </p:cNvPr>
          <p:cNvSpPr>
            <a:spLocks noGrp="1"/>
          </p:cNvSpPr>
          <p:nvPr/>
        </p:nvSpPr>
        <p:spPr>
          <a:xfrm>
            <a:off x="1061942" y="4966041"/>
            <a:ext cx="561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4F5F7"/>
                </a:solidFill>
              </a:defRPr>
            </a:pPr>
            <a:r>
              <a:rPr sz="1275" b="1" dirty="0" err="1">
                <a:solidFill>
                  <a:srgbClr val="F4F5F7"/>
                </a:solidFill>
              </a:rPr>
              <a:t>多模态</a:t>
            </a:r>
            <a:r>
              <a:rPr sz="1275" b="1" dirty="0">
                <a:solidFill>
                  <a:srgbClr val="F4F5F7"/>
                </a:solidFill>
              </a:rPr>
              <a:t> </a:t>
            </a:r>
            <a:r>
              <a:rPr sz="1275" b="1" dirty="0" err="1">
                <a:solidFill>
                  <a:srgbClr val="F4F5F7"/>
                </a:solidFill>
              </a:rPr>
              <a:t>Agent：任务拆解、工具调用、状态追踪</a:t>
            </a:r>
            <a:endParaRPr sz="1275" b="1" dirty="0">
              <a:solidFill>
                <a:srgbClr val="F4F5F7"/>
              </a:solidFill>
            </a:endParaRPr>
          </a:p>
        </p:txBody>
      </p:sp>
      <p:sp>
        <p:nvSpPr>
          <p:cNvPr id="30" name="contribution-stats-title">
            <a:extLst>
              <a:ext uri="{FF2B5EF4-FFF2-40B4-BE49-F238E27FC236}">
                <a16:creationId xmlns:a16="http://schemas.microsoft.com/office/drawing/2014/main" id="{D1B86D74-B82D-65E7-D5F1-10A45A5FA82C}"/>
              </a:ext>
            </a:extLst>
          </p:cNvPr>
          <p:cNvSpPr>
            <a:spLocks noGrp="1"/>
          </p:cNvSpPr>
          <p:nvPr/>
        </p:nvSpPr>
        <p:spPr>
          <a:xfrm>
            <a:off x="7542266" y="3041991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lang="zh-CN" altLang="en-US" b="1" dirty="0">
                <a:solidFill>
                  <a:srgbClr val="F4F5F7"/>
                </a:solidFill>
              </a:rPr>
              <a:t>累计贡献提交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31" name="contribution-commits">
            <a:extLst>
              <a:ext uri="{FF2B5EF4-FFF2-40B4-BE49-F238E27FC236}">
                <a16:creationId xmlns:a16="http://schemas.microsoft.com/office/drawing/2014/main" id="{CA663290-9DC4-9A0F-A15F-BE11666F39EC}"/>
              </a:ext>
            </a:extLst>
          </p:cNvPr>
          <p:cNvSpPr>
            <a:spLocks noGrp="1"/>
          </p:cNvSpPr>
          <p:nvPr/>
        </p:nvSpPr>
        <p:spPr>
          <a:xfrm>
            <a:off x="7542266" y="3442041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C8FF00"/>
                </a:solidFill>
              </a:defRPr>
            </a:pPr>
            <a:r>
              <a:rPr sz="3600" b="1">
                <a:solidFill>
                  <a:srgbClr val="C8FF00"/>
                </a:solidFill>
              </a:rPr>
              <a:t>1,211</a:t>
            </a:r>
          </a:p>
        </p:txBody>
      </p:sp>
      <p:sp>
        <p:nvSpPr>
          <p:cNvPr id="32" name="contribution-commits-label">
            <a:extLst>
              <a:ext uri="{FF2B5EF4-FFF2-40B4-BE49-F238E27FC236}">
                <a16:creationId xmlns:a16="http://schemas.microsoft.com/office/drawing/2014/main" id="{F9D4F03F-E498-5BC6-8C15-ADEBC796545E}"/>
              </a:ext>
            </a:extLst>
          </p:cNvPr>
          <p:cNvSpPr>
            <a:spLocks noGrp="1"/>
          </p:cNvSpPr>
          <p:nvPr/>
        </p:nvSpPr>
        <p:spPr>
          <a:xfrm>
            <a:off x="7561316" y="4032591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0A4AF"/>
                </a:solidFill>
              </a:defRPr>
            </a:pPr>
            <a:r>
              <a:rPr sz="1350" b="0" dirty="0">
                <a:solidFill>
                  <a:srgbClr val="A0A4AF"/>
                </a:solidFill>
              </a:rPr>
              <a:t>次 </a:t>
            </a:r>
            <a:r>
              <a:rPr lang="en-US" sz="1350" dirty="0">
                <a:solidFill>
                  <a:srgbClr val="A0A4AF"/>
                </a:solidFill>
              </a:rPr>
              <a:t> </a:t>
            </a:r>
            <a:r>
              <a:rPr sz="1350" b="0" dirty="0">
                <a:solidFill>
                  <a:srgbClr val="A0A4AF"/>
                </a:solidFill>
              </a:rPr>
              <a:t>commits</a:t>
            </a:r>
          </a:p>
        </p:txBody>
      </p:sp>
      <p:sp>
        <p:nvSpPr>
          <p:cNvPr id="33" name="contribution-stat-line-1">
            <a:extLst>
              <a:ext uri="{FF2B5EF4-FFF2-40B4-BE49-F238E27FC236}">
                <a16:creationId xmlns:a16="http://schemas.microsoft.com/office/drawing/2014/main" id="{486A8D18-612A-36CE-8DB4-440161CB1732}"/>
              </a:ext>
            </a:extLst>
          </p:cNvPr>
          <p:cNvSpPr>
            <a:spLocks noGrp="1"/>
          </p:cNvSpPr>
          <p:nvPr/>
        </p:nvSpPr>
        <p:spPr>
          <a:xfrm>
            <a:off x="7542266" y="4394541"/>
            <a:ext cx="34290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34" name="contribution-module-count">
            <a:extLst>
              <a:ext uri="{FF2B5EF4-FFF2-40B4-BE49-F238E27FC236}">
                <a16:creationId xmlns:a16="http://schemas.microsoft.com/office/drawing/2014/main" id="{BC45E8A1-944E-1A97-3459-67CCB7895A17}"/>
              </a:ext>
            </a:extLst>
          </p:cNvPr>
          <p:cNvSpPr>
            <a:spLocks noGrp="1"/>
          </p:cNvSpPr>
          <p:nvPr/>
        </p:nvSpPr>
        <p:spPr>
          <a:xfrm>
            <a:off x="7561316" y="4908891"/>
            <a:ext cx="76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4FE0A0"/>
                </a:solidFill>
              </a:defRPr>
            </a:pPr>
            <a:r>
              <a:rPr sz="3000" b="1" dirty="0">
                <a:solidFill>
                  <a:srgbClr val="4FE0A0"/>
                </a:solidFill>
              </a:rPr>
              <a:t>1</a:t>
            </a:r>
            <a:r>
              <a:rPr lang="en-US" sz="3000" b="1" dirty="0">
                <a:solidFill>
                  <a:srgbClr val="4FE0A0"/>
                </a:solidFill>
              </a:rPr>
              <a:t>5+</a:t>
            </a:r>
            <a:endParaRPr sz="3000" b="1" dirty="0">
              <a:solidFill>
                <a:srgbClr val="4FE0A0"/>
              </a:solidFill>
            </a:endParaRPr>
          </a:p>
        </p:txBody>
      </p:sp>
      <p:sp>
        <p:nvSpPr>
          <p:cNvPr id="39" name="contribution-stats-title">
            <a:extLst>
              <a:ext uri="{FF2B5EF4-FFF2-40B4-BE49-F238E27FC236}">
                <a16:creationId xmlns:a16="http://schemas.microsoft.com/office/drawing/2014/main" id="{8D58C966-2948-95B8-37F9-DD84B2584B63}"/>
              </a:ext>
            </a:extLst>
          </p:cNvPr>
          <p:cNvSpPr>
            <a:spLocks noGrp="1"/>
          </p:cNvSpPr>
          <p:nvPr/>
        </p:nvSpPr>
        <p:spPr>
          <a:xfrm>
            <a:off x="7561316" y="4562283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4F5F7"/>
                </a:solidFill>
              </a:defRPr>
            </a:pPr>
            <a:r>
              <a:rPr lang="zh-CN" altLang="en-US" sz="1800" b="1" dirty="0">
                <a:solidFill>
                  <a:srgbClr val="F4F5F7"/>
                </a:solidFill>
              </a:rPr>
              <a:t>参与</a:t>
            </a:r>
            <a:endParaRPr sz="1800" b="1" dirty="0">
              <a:solidFill>
                <a:srgbClr val="F4F5F7"/>
              </a:solidFill>
            </a:endParaRPr>
          </a:p>
        </p:txBody>
      </p:sp>
      <p:sp>
        <p:nvSpPr>
          <p:cNvPr id="40" name="contribution-commits-label">
            <a:extLst>
              <a:ext uri="{FF2B5EF4-FFF2-40B4-BE49-F238E27FC236}">
                <a16:creationId xmlns:a16="http://schemas.microsoft.com/office/drawing/2014/main" id="{83F056ED-C702-268D-88D7-24253817DC3A}"/>
              </a:ext>
            </a:extLst>
          </p:cNvPr>
          <p:cNvSpPr>
            <a:spLocks noGrp="1"/>
          </p:cNvSpPr>
          <p:nvPr/>
        </p:nvSpPr>
        <p:spPr>
          <a:xfrm>
            <a:off x="8323316" y="5083729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A0A4AF"/>
                </a:solidFill>
              </a:defRPr>
            </a:pPr>
            <a:r>
              <a:rPr lang="zh-CN" altLang="en-US" sz="1350" dirty="0">
                <a:solidFill>
                  <a:srgbClr val="A0A4AF"/>
                </a:solidFill>
              </a:rPr>
              <a:t>个 业务模块</a:t>
            </a:r>
            <a:endParaRPr sz="1350" b="0" dirty="0">
              <a:solidFill>
                <a:srgbClr val="A0A4A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0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3">
            <a:extLst>
              <a:ext uri="{FF2B5EF4-FFF2-40B4-BE49-F238E27FC236}">
                <a16:creationId xmlns:a16="http://schemas.microsoft.com/office/drawing/2014/main" id="{271B1253-BB2F-4B0D-BD7A-03A81C07EA5B}"/>
              </a:ext>
            </a:extLst>
          </p:cNvPr>
          <p:cNvSpPr>
            <a:spLocks noGrp="1"/>
          </p:cNvSpPr>
          <p:nvPr/>
        </p:nvSpPr>
        <p:spPr>
          <a:xfrm>
            <a:off x="740393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首页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功能卡片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ome1-frame">
            <a:extLst>
              <a:ext uri="{FF2B5EF4-FFF2-40B4-BE49-F238E27FC236}">
                <a16:creationId xmlns:a16="http://schemas.microsoft.com/office/drawing/2014/main" id="{4686DD01-A3F2-457A-BF9B-99F27BAB75B2}"/>
              </a:ext>
            </a:extLst>
          </p:cNvPr>
          <p:cNvSpPr>
            <a:spLocks noGrp="1"/>
          </p:cNvSpPr>
          <p:nvPr/>
        </p:nvSpPr>
        <p:spPr>
          <a:xfrm>
            <a:off x="831850" y="7239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CC2C8C-596D-704A-7CB0-9F103B1B2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97" y="807484"/>
            <a:ext cx="10367006" cy="58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3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4">
            <a:extLst>
              <a:ext uri="{FF2B5EF4-FFF2-40B4-BE49-F238E27FC236}">
                <a16:creationId xmlns:a16="http://schemas.microsoft.com/office/drawing/2014/main" id="{0ED60DB5-FDA3-4EA0-A35F-61A6EA467263}"/>
              </a:ext>
            </a:extLst>
          </p:cNvPr>
          <p:cNvSpPr>
            <a:spLocks noGrp="1"/>
          </p:cNvSpPr>
          <p:nvPr/>
        </p:nvSpPr>
        <p:spPr>
          <a:xfrm>
            <a:off x="679024" y="20002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首页</a:t>
            </a:r>
            <a:r>
              <a:rPr sz="2625" b="1" dirty="0">
                <a:solidFill>
                  <a:srgbClr val="F4F5F7"/>
                </a:solidFill>
              </a:rPr>
              <a:t> ·</a:t>
            </a:r>
            <a:r>
              <a:rPr lang="zh-CN" altLang="en-US" sz="2625" b="1" dirty="0">
                <a:solidFill>
                  <a:srgbClr val="F4F5F7"/>
                </a:solidFill>
              </a:rPr>
              <a:t> </a:t>
            </a:r>
            <a:r>
              <a:rPr lang="en-US" altLang="zh-CN" sz="2625" b="1" dirty="0">
                <a:solidFill>
                  <a:srgbClr val="F4F5F7"/>
                </a:solidFill>
              </a:rPr>
              <a:t>AI</a:t>
            </a:r>
            <a:r>
              <a:rPr lang="zh-CN" altLang="en-US" sz="2625" b="1" dirty="0">
                <a:solidFill>
                  <a:srgbClr val="F4F5F7"/>
                </a:solidFill>
              </a:rPr>
              <a:t>能力一键调用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ome2-frame">
            <a:extLst>
              <a:ext uri="{FF2B5EF4-FFF2-40B4-BE49-F238E27FC236}">
                <a16:creationId xmlns:a16="http://schemas.microsoft.com/office/drawing/2014/main" id="{54DA483E-8497-411E-BAA6-F043602AF4B7}"/>
              </a:ext>
            </a:extLst>
          </p:cNvPr>
          <p:cNvSpPr>
            <a:spLocks noGrp="1"/>
          </p:cNvSpPr>
          <p:nvPr/>
        </p:nvSpPr>
        <p:spPr>
          <a:xfrm>
            <a:off x="800100" y="6858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2BFA17-4146-96A2-A63F-7AF2B22F1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89" y="746881"/>
            <a:ext cx="10400021" cy="5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18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5">
            <a:extLst>
              <a:ext uri="{FF2B5EF4-FFF2-40B4-BE49-F238E27FC236}">
                <a16:creationId xmlns:a16="http://schemas.microsoft.com/office/drawing/2014/main" id="{8172D7BB-8F69-4C93-B89B-0042FE6225F6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游戏回流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广告素材自动生产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5">
            <a:extLst>
              <a:ext uri="{FF2B5EF4-FFF2-40B4-BE49-F238E27FC236}">
                <a16:creationId xmlns:a16="http://schemas.microsoft.com/office/drawing/2014/main" id="{4424E6F5-9F27-4605-B8BC-E77BCAE9D955}"/>
              </a:ext>
            </a:extLst>
          </p:cNvPr>
          <p:cNvSpPr>
            <a:spLocks noGrp="1"/>
          </p:cNvSpPr>
          <p:nvPr/>
        </p:nvSpPr>
        <p:spPr>
          <a:xfrm>
            <a:off x="5750287" y="338138"/>
            <a:ext cx="5715256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4FE0A0"/>
                </a:solidFill>
              </a:defRPr>
            </a:pPr>
            <a:r>
              <a:rPr lang="zh-CN" altLang="en-US" sz="1400" b="0" dirty="0">
                <a:solidFill>
                  <a:srgbClr val="4FE0A0"/>
                </a:solidFill>
              </a:rPr>
              <a:t>涵盖 </a:t>
            </a:r>
            <a:r>
              <a:rPr lang="en-US" altLang="zh-CN" sz="1400" b="0" dirty="0">
                <a:solidFill>
                  <a:srgbClr val="4FE0A0"/>
                </a:solidFill>
              </a:rPr>
              <a:t>20+ </a:t>
            </a:r>
            <a:r>
              <a:rPr lang="zh-CN" altLang="en-US" sz="1400" b="0" dirty="0">
                <a:solidFill>
                  <a:srgbClr val="4FE0A0"/>
                </a:solidFill>
              </a:rPr>
              <a:t>款游戏、 </a:t>
            </a:r>
            <a:r>
              <a:rPr lang="en-US" altLang="zh-CN" sz="1400" b="0" dirty="0">
                <a:solidFill>
                  <a:srgbClr val="4FE0A0"/>
                </a:solidFill>
              </a:rPr>
              <a:t>64 </a:t>
            </a:r>
            <a:r>
              <a:rPr lang="zh-CN" altLang="en-US" sz="1400" b="0" dirty="0">
                <a:solidFill>
                  <a:srgbClr val="4FE0A0"/>
                </a:solidFill>
              </a:rPr>
              <a:t>个渠道，</a:t>
            </a:r>
            <a:r>
              <a:rPr lang="en-US" altLang="zh-CN" sz="1400" b="0" dirty="0">
                <a:solidFill>
                  <a:srgbClr val="4FE0A0"/>
                </a:solidFill>
              </a:rPr>
              <a:t>12–15 </a:t>
            </a:r>
            <a:r>
              <a:rPr lang="zh-CN" altLang="en-US" sz="1400" b="0" dirty="0">
                <a:solidFill>
                  <a:srgbClr val="4FE0A0"/>
                </a:solidFill>
              </a:rPr>
              <a:t>分钟最多产出 </a:t>
            </a:r>
            <a:r>
              <a:rPr lang="en-US" altLang="zh-CN" sz="1400" b="0" dirty="0">
                <a:solidFill>
                  <a:srgbClr val="4FE0A0"/>
                </a:solidFill>
              </a:rPr>
              <a:t>128 </a:t>
            </a:r>
            <a:r>
              <a:rPr lang="zh-CN" altLang="en-US" sz="1400" b="0" dirty="0">
                <a:solidFill>
                  <a:srgbClr val="4FE0A0"/>
                </a:solidFill>
              </a:rPr>
              <a:t>张素材</a:t>
            </a:r>
          </a:p>
        </p:txBody>
      </p:sp>
      <p:sp>
        <p:nvSpPr>
          <p:cNvPr id="5" name="game1-frame">
            <a:extLst>
              <a:ext uri="{FF2B5EF4-FFF2-40B4-BE49-F238E27FC236}">
                <a16:creationId xmlns:a16="http://schemas.microsoft.com/office/drawing/2014/main" id="{0A527743-8BDE-4F43-9167-6D2DDE3AAE59}"/>
              </a:ext>
            </a:extLst>
          </p:cNvPr>
          <p:cNvSpPr>
            <a:spLocks noGrp="1"/>
          </p:cNvSpPr>
          <p:nvPr/>
        </p:nvSpPr>
        <p:spPr>
          <a:xfrm>
            <a:off x="800100" y="819151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919164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01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6">
            <a:extLst>
              <a:ext uri="{FF2B5EF4-FFF2-40B4-BE49-F238E27FC236}">
                <a16:creationId xmlns:a16="http://schemas.microsoft.com/office/drawing/2014/main" id="{18D03136-44A5-4E91-8506-357FA386B0C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游戏回流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6">
            <a:extLst>
              <a:ext uri="{FF2B5EF4-FFF2-40B4-BE49-F238E27FC236}">
                <a16:creationId xmlns:a16="http://schemas.microsoft.com/office/drawing/2014/main" id="{ACD1040D-9979-4AFF-84B2-DC828885DC1F}"/>
              </a:ext>
            </a:extLst>
          </p:cNvPr>
          <p:cNvSpPr>
            <a:spLocks noGrp="1"/>
          </p:cNvSpPr>
          <p:nvPr/>
        </p:nvSpPr>
        <p:spPr>
          <a:xfrm>
            <a:off x="6706879" y="348462"/>
            <a:ext cx="468502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4FE0A0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一次配置，生成多渠道、多资源位的素材集合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game2-frame">
            <a:extLst>
              <a:ext uri="{FF2B5EF4-FFF2-40B4-BE49-F238E27FC236}">
                <a16:creationId xmlns:a16="http://schemas.microsoft.com/office/drawing/2014/main" id="{F43CF213-5888-4523-8646-76714129EA0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2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7">
            <a:extLst>
              <a:ext uri="{FF2B5EF4-FFF2-40B4-BE49-F238E27FC236}">
                <a16:creationId xmlns:a16="http://schemas.microsoft.com/office/drawing/2014/main" id="{88EB78E5-D0FE-499B-B4E1-D0C5A03F7D64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素材管理 · 统一资产库</a:t>
            </a:r>
          </a:p>
        </p:txBody>
      </p:sp>
      <p:sp>
        <p:nvSpPr>
          <p:cNvPr id="5" name="assets-frame">
            <a:extLst>
              <a:ext uri="{FF2B5EF4-FFF2-40B4-BE49-F238E27FC236}">
                <a16:creationId xmlns:a16="http://schemas.microsoft.com/office/drawing/2014/main" id="{F496ACCC-9971-4691-9C8B-DE73D260AEC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8">
            <a:extLst>
              <a:ext uri="{FF2B5EF4-FFF2-40B4-BE49-F238E27FC236}">
                <a16:creationId xmlns:a16="http://schemas.microsoft.com/office/drawing/2014/main" id="{8A6C41F2-439A-4ABB-A0EB-9B430C94337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无限画布 · 组织探索式创作</a:t>
            </a:r>
          </a:p>
        </p:txBody>
      </p:sp>
      <p:sp>
        <p:nvSpPr>
          <p:cNvPr id="5" name="canvas-frame">
            <a:extLst>
              <a:ext uri="{FF2B5EF4-FFF2-40B4-BE49-F238E27FC236}">
                <a16:creationId xmlns:a16="http://schemas.microsoft.com/office/drawing/2014/main" id="{4FF65994-84AC-4BAA-A103-3C1465C73AE5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0A729F-DE53-10F0-0578-D596CFB59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921" y="859455"/>
            <a:ext cx="10406158" cy="585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4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9">
            <a:extLst>
              <a:ext uri="{FF2B5EF4-FFF2-40B4-BE49-F238E27FC236}">
                <a16:creationId xmlns:a16="http://schemas.microsoft.com/office/drawing/2014/main" id="{F632252F-AB75-4118-9876-0C1302D6A2DE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Agent </a:t>
            </a:r>
            <a:r>
              <a:rPr sz="2625" b="1" dirty="0" err="1">
                <a:solidFill>
                  <a:srgbClr val="F4F5F7"/>
                </a:solidFill>
              </a:rPr>
              <a:t>小奈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多模态傻瓜 </a:t>
            </a:r>
            <a:r>
              <a:rPr lang="en-US" altLang="zh-CN" sz="2625" b="1" dirty="0">
                <a:solidFill>
                  <a:srgbClr val="F4F5F7"/>
                </a:solidFill>
              </a:rPr>
              <a:t>AI </a:t>
            </a:r>
            <a:r>
              <a:rPr lang="zh-CN" altLang="en-US" sz="2625" b="1" dirty="0">
                <a:solidFill>
                  <a:srgbClr val="F4F5F7"/>
                </a:solidFill>
              </a:rPr>
              <a:t>助手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agent1-frame">
            <a:extLst>
              <a:ext uri="{FF2B5EF4-FFF2-40B4-BE49-F238E27FC236}">
                <a16:creationId xmlns:a16="http://schemas.microsoft.com/office/drawing/2014/main" id="{DA0429AD-6252-4775-AB38-900A2CF3ACCE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3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0">
            <a:extLst>
              <a:ext uri="{FF2B5EF4-FFF2-40B4-BE49-F238E27FC236}">
                <a16:creationId xmlns:a16="http://schemas.microsoft.com/office/drawing/2014/main" id="{C2F411AB-626A-44E4-81AF-4D4A85D7665B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Agent 小奈 · 生成结果与连续操作</a:t>
            </a:r>
          </a:p>
        </p:txBody>
      </p:sp>
      <p:sp>
        <p:nvSpPr>
          <p:cNvPr id="3" name="module-conclusion-10">
            <a:extLst>
              <a:ext uri="{FF2B5EF4-FFF2-40B4-BE49-F238E27FC236}">
                <a16:creationId xmlns:a16="http://schemas.microsoft.com/office/drawing/2014/main" id="{C66C4FD8-51E3-4459-A8A0-1FD574D9C177}"/>
              </a:ext>
            </a:extLst>
          </p:cNvPr>
          <p:cNvSpPr>
            <a:spLocks noGrp="1"/>
          </p:cNvSpPr>
          <p:nvPr/>
        </p:nvSpPr>
        <p:spPr>
          <a:xfrm>
            <a:off x="5728297" y="381000"/>
            <a:ext cx="5753867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一次生成之后，还可以继续对话，把结果延伸成下一步操作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agent2-frame">
            <a:extLst>
              <a:ext uri="{FF2B5EF4-FFF2-40B4-BE49-F238E27FC236}">
                <a16:creationId xmlns:a16="http://schemas.microsoft.com/office/drawing/2014/main" id="{8D413561-4DEE-4514-BF7D-7E216445C24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212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1">
            <a:extLst>
              <a:ext uri="{FF2B5EF4-FFF2-40B4-BE49-F238E27FC236}">
                <a16:creationId xmlns:a16="http://schemas.microsoft.com/office/drawing/2014/main" id="{250746C8-A473-4883-B885-A83E25FEE34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字体设计 · 快速生成游戏字效</a:t>
            </a:r>
          </a:p>
        </p:txBody>
      </p:sp>
      <p:sp>
        <p:nvSpPr>
          <p:cNvPr id="3" name="module-conclusion-11">
            <a:extLst>
              <a:ext uri="{FF2B5EF4-FFF2-40B4-BE49-F238E27FC236}">
                <a16:creationId xmlns:a16="http://schemas.microsoft.com/office/drawing/2014/main" id="{B119A038-E7D1-4B7B-84BE-8878203DA790}"/>
              </a:ext>
            </a:extLst>
          </p:cNvPr>
          <p:cNvSpPr>
            <a:spLocks noGrp="1"/>
          </p:cNvSpPr>
          <p:nvPr/>
        </p:nvSpPr>
        <p:spPr>
          <a:xfrm>
            <a:off x="7429500" y="3810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从游戏场景和风格出发，快速得到可选字效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font-frame">
            <a:extLst>
              <a:ext uri="{FF2B5EF4-FFF2-40B4-BE49-F238E27FC236}">
                <a16:creationId xmlns:a16="http://schemas.microsoft.com/office/drawing/2014/main" id="{F49DE483-C635-4086-BC74-908B163DC44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90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2">
            <a:extLst>
              <a:ext uri="{FF2B5EF4-FFF2-40B4-BE49-F238E27FC236}">
                <a16:creationId xmlns:a16="http://schemas.microsoft.com/office/drawing/2014/main" id="{366DF682-9E2A-4494-B9AC-86DD12DECD7B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LOGO </a:t>
            </a:r>
            <a:r>
              <a:rPr sz="2625" b="1" dirty="0" err="1">
                <a:solidFill>
                  <a:srgbClr val="F4F5F7"/>
                </a:solidFill>
              </a:rPr>
              <a:t>大师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lang="zh-CN" altLang="en-US" sz="2625" b="1" dirty="0">
                <a:solidFill>
                  <a:srgbClr val="F4F5F7"/>
                </a:solidFill>
              </a:rPr>
              <a:t>一键生成风格 </a:t>
            </a:r>
            <a:r>
              <a:rPr lang="en-US" altLang="zh-CN" sz="2625" b="1" dirty="0">
                <a:solidFill>
                  <a:srgbClr val="F4F5F7"/>
                </a:solidFill>
              </a:rPr>
              <a:t>LOGO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logo1-frame">
            <a:extLst>
              <a:ext uri="{FF2B5EF4-FFF2-40B4-BE49-F238E27FC236}">
                <a16:creationId xmlns:a16="http://schemas.microsoft.com/office/drawing/2014/main" id="{E29FFE4A-0B53-40A0-A47B-2F5F4C69901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52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3">
            <a:extLst>
              <a:ext uri="{FF2B5EF4-FFF2-40B4-BE49-F238E27FC236}">
                <a16:creationId xmlns:a16="http://schemas.microsoft.com/office/drawing/2014/main" id="{E556C749-96D1-4CF5-9473-8F3264C77AA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LOGO </a:t>
            </a:r>
            <a:r>
              <a:rPr sz="2625" b="1" dirty="0" err="1">
                <a:solidFill>
                  <a:srgbClr val="F4F5F7"/>
                </a:solidFill>
              </a:rPr>
              <a:t>大师</a:t>
            </a:r>
            <a:r>
              <a:rPr sz="2625" b="1" dirty="0">
                <a:solidFill>
                  <a:srgbClr val="F4F5F7"/>
                </a:solidFill>
              </a:rPr>
              <a:t> </a:t>
            </a:r>
          </a:p>
        </p:txBody>
      </p:sp>
      <p:sp>
        <p:nvSpPr>
          <p:cNvPr id="5" name="logo2-frame">
            <a:extLst>
              <a:ext uri="{FF2B5EF4-FFF2-40B4-BE49-F238E27FC236}">
                <a16:creationId xmlns:a16="http://schemas.microsoft.com/office/drawing/2014/main" id="{5A9ED115-6D3C-42AE-A97C-E75B68D679E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41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4">
            <a:extLst>
              <a:ext uri="{FF2B5EF4-FFF2-40B4-BE49-F238E27FC236}">
                <a16:creationId xmlns:a16="http://schemas.microsoft.com/office/drawing/2014/main" id="{B39C3A44-6E78-44E4-9A15-2B75588639A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LOGO 大师 · 批量延展与交付</a:t>
            </a:r>
          </a:p>
        </p:txBody>
      </p:sp>
      <p:sp>
        <p:nvSpPr>
          <p:cNvPr id="3" name="module-conclusion-14">
            <a:extLst>
              <a:ext uri="{FF2B5EF4-FFF2-40B4-BE49-F238E27FC236}">
                <a16:creationId xmlns:a16="http://schemas.microsoft.com/office/drawing/2014/main" id="{DA6D3AE3-04E6-426D-93F3-7C5FFFB13446}"/>
              </a:ext>
            </a:extLst>
          </p:cNvPr>
          <p:cNvSpPr>
            <a:spLocks noGrp="1"/>
          </p:cNvSpPr>
          <p:nvPr/>
        </p:nvSpPr>
        <p:spPr>
          <a:xfrm>
            <a:off x="7296150" y="385539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lang="zh-CN" altLang="en-US" sz="1400" dirty="0">
                <a:solidFill>
                  <a:srgbClr val="4FE0A0"/>
                </a:solidFill>
              </a:rPr>
              <a:t>一键延展</a:t>
            </a:r>
            <a:r>
              <a:rPr sz="1400" b="0" dirty="0" err="1">
                <a:solidFill>
                  <a:srgbClr val="4FE0A0"/>
                </a:solidFill>
              </a:rPr>
              <a:t>黑白、原色、带边等交付版本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logo3-frame">
            <a:extLst>
              <a:ext uri="{FF2B5EF4-FFF2-40B4-BE49-F238E27FC236}">
                <a16:creationId xmlns:a16="http://schemas.microsoft.com/office/drawing/2014/main" id="{8072C25C-3F65-4BC3-9B98-CCEC15147340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10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5">
            <a:extLst>
              <a:ext uri="{FF2B5EF4-FFF2-40B4-BE49-F238E27FC236}">
                <a16:creationId xmlns:a16="http://schemas.microsoft.com/office/drawing/2014/main" id="{DD37DFFD-C457-4A42-B1E6-1C839FD9EB5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>
                <a:solidFill>
                  <a:srgbClr val="F4F5F7"/>
                </a:solidFill>
              </a:rPr>
              <a:t>H5 </a:t>
            </a:r>
            <a:r>
              <a:rPr sz="2625" b="1" dirty="0" err="1">
                <a:solidFill>
                  <a:srgbClr val="F4F5F7"/>
                </a:solidFill>
              </a:rPr>
              <a:t>长图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sz="2625" b="1" dirty="0" err="1">
                <a:solidFill>
                  <a:srgbClr val="F4F5F7"/>
                </a:solidFill>
              </a:rPr>
              <a:t>模块化</a:t>
            </a:r>
            <a:r>
              <a:rPr lang="zh-CN" altLang="en-US" sz="2625" b="1" dirty="0">
                <a:solidFill>
                  <a:srgbClr val="F4F5F7"/>
                </a:solidFill>
              </a:rPr>
              <a:t>长图编辑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h5-frame">
            <a:extLst>
              <a:ext uri="{FF2B5EF4-FFF2-40B4-BE49-F238E27FC236}">
                <a16:creationId xmlns:a16="http://schemas.microsoft.com/office/drawing/2014/main" id="{02EA16CA-1237-4BC5-A3A2-25FD8A387E13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  <p:sp>
        <p:nvSpPr>
          <p:cNvPr id="6" name="module-conclusion-14">
            <a:extLst>
              <a:ext uri="{FF2B5EF4-FFF2-40B4-BE49-F238E27FC236}">
                <a16:creationId xmlns:a16="http://schemas.microsoft.com/office/drawing/2014/main" id="{E8C8D87D-2DE7-2F85-E79A-B9304B2AD6C5}"/>
              </a:ext>
            </a:extLst>
          </p:cNvPr>
          <p:cNvSpPr>
            <a:spLocks noGrp="1"/>
          </p:cNvSpPr>
          <p:nvPr/>
        </p:nvSpPr>
        <p:spPr>
          <a:xfrm>
            <a:off x="7296150" y="385539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lang="zh-CN" altLang="en-US" sz="1400" b="0" dirty="0">
                <a:solidFill>
                  <a:srgbClr val="4FE0A0"/>
                </a:solidFill>
              </a:rPr>
              <a:t>模块拖曳，自由组合</a:t>
            </a:r>
            <a:endParaRPr sz="1400" b="0" dirty="0">
              <a:solidFill>
                <a:srgbClr val="4FE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768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6">
            <a:extLst>
              <a:ext uri="{FF2B5EF4-FFF2-40B4-BE49-F238E27FC236}">
                <a16:creationId xmlns:a16="http://schemas.microsoft.com/office/drawing/2014/main" id="{905D5A82-8F77-4996-A3A2-6DE0E4544059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动效制作</a:t>
            </a:r>
            <a:r>
              <a:rPr sz="2625" b="1" dirty="0">
                <a:solidFill>
                  <a:srgbClr val="F4F5F7"/>
                </a:solidFill>
              </a:rPr>
              <a:t> · </a:t>
            </a:r>
            <a:r>
              <a:rPr sz="2625" b="1" dirty="0" err="1">
                <a:solidFill>
                  <a:srgbClr val="F4F5F7"/>
                </a:solidFill>
              </a:rPr>
              <a:t>把静态素材</a:t>
            </a:r>
            <a:r>
              <a:rPr lang="zh-CN" altLang="en-US" sz="2625" b="1" dirty="0">
                <a:solidFill>
                  <a:srgbClr val="F4F5F7"/>
                </a:solidFill>
              </a:rPr>
              <a:t>变成动态</a:t>
            </a:r>
            <a:r>
              <a:rPr lang="en-US" altLang="zh-CN" sz="2625" b="1" dirty="0">
                <a:solidFill>
                  <a:srgbClr val="F4F5F7"/>
                </a:solidFill>
              </a:rPr>
              <a:t>GIF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motion-frame">
            <a:extLst>
              <a:ext uri="{FF2B5EF4-FFF2-40B4-BE49-F238E27FC236}">
                <a16:creationId xmlns:a16="http://schemas.microsoft.com/office/drawing/2014/main" id="{60B48ACD-1195-4B8C-A0CD-ABBF368C694F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280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7">
            <a:extLst>
              <a:ext uri="{FF2B5EF4-FFF2-40B4-BE49-F238E27FC236}">
                <a16:creationId xmlns:a16="http://schemas.microsoft.com/office/drawing/2014/main" id="{407138E5-079C-41B4-9A71-FF32CDC7CFE9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分镜助手 · 从角色和脚本开始</a:t>
            </a:r>
          </a:p>
        </p:txBody>
      </p:sp>
      <p:sp>
        <p:nvSpPr>
          <p:cNvPr id="3" name="module-conclusion-17">
            <a:extLst>
              <a:ext uri="{FF2B5EF4-FFF2-40B4-BE49-F238E27FC236}">
                <a16:creationId xmlns:a16="http://schemas.microsoft.com/office/drawing/2014/main" id="{3293CE50-4EEB-421D-85BA-0497B9834673}"/>
              </a:ext>
            </a:extLst>
          </p:cNvPr>
          <p:cNvSpPr>
            <a:spLocks noGrp="1"/>
          </p:cNvSpPr>
          <p:nvPr/>
        </p:nvSpPr>
        <p:spPr>
          <a:xfrm>
            <a:off x="7429500" y="37237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从角色库、脚本、风格和镜头数量开始搭建分镜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toryboard1-frame">
            <a:extLst>
              <a:ext uri="{FF2B5EF4-FFF2-40B4-BE49-F238E27FC236}">
                <a16:creationId xmlns:a16="http://schemas.microsoft.com/office/drawing/2014/main" id="{C0A67C85-303C-4D4E-97E5-E9621B2EDE6C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30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8">
            <a:extLst>
              <a:ext uri="{FF2B5EF4-FFF2-40B4-BE49-F238E27FC236}">
                <a16:creationId xmlns:a16="http://schemas.microsoft.com/office/drawing/2014/main" id="{338DC93C-4C22-49C5-A989-364799DF6B20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分镜助手 · 逐镜头编辑内容</a:t>
            </a:r>
          </a:p>
        </p:txBody>
      </p:sp>
      <p:sp>
        <p:nvSpPr>
          <p:cNvPr id="3" name="module-conclusion-18">
            <a:extLst>
              <a:ext uri="{FF2B5EF4-FFF2-40B4-BE49-F238E27FC236}">
                <a16:creationId xmlns:a16="http://schemas.microsoft.com/office/drawing/2014/main" id="{D8F5D0F7-3A94-46AB-97ED-76E4DF808611}"/>
              </a:ext>
            </a:extLst>
          </p:cNvPr>
          <p:cNvSpPr>
            <a:spLocks noGrp="1"/>
          </p:cNvSpPr>
          <p:nvPr/>
        </p:nvSpPr>
        <p:spPr>
          <a:xfrm>
            <a:off x="7296150" y="338138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逐镜头编辑时长、提示内容与参考素材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toryboard2-frame">
            <a:extLst>
              <a:ext uri="{FF2B5EF4-FFF2-40B4-BE49-F238E27FC236}">
                <a16:creationId xmlns:a16="http://schemas.microsoft.com/office/drawing/2014/main" id="{DD153869-64A7-428A-AEC9-CF2969663917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97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19">
            <a:extLst>
              <a:ext uri="{FF2B5EF4-FFF2-40B4-BE49-F238E27FC236}">
                <a16:creationId xmlns:a16="http://schemas.microsoft.com/office/drawing/2014/main" id="{D2C4C5C7-0434-4116-9629-DCACD59CB26C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分镜助手</a:t>
            </a:r>
            <a:r>
              <a:rPr sz="2625" b="1" dirty="0">
                <a:solidFill>
                  <a:srgbClr val="F4F5F7"/>
                </a:solidFill>
              </a:rPr>
              <a:t> ·</a:t>
            </a:r>
            <a:r>
              <a:rPr lang="zh-CN" altLang="en-US" sz="2625" b="1" dirty="0">
                <a:solidFill>
                  <a:srgbClr val="F4F5F7"/>
                </a:solidFill>
              </a:rPr>
              <a:t>提交视频</a:t>
            </a:r>
            <a:r>
              <a:rPr sz="2625" b="1" dirty="0">
                <a:solidFill>
                  <a:srgbClr val="F4F5F7"/>
                </a:solidFill>
              </a:rPr>
              <a:t>并</a:t>
            </a:r>
            <a:r>
              <a:rPr lang="zh-CN" altLang="en-US" sz="2625" b="1" dirty="0">
                <a:solidFill>
                  <a:srgbClr val="F4F5F7"/>
                </a:solidFill>
              </a:rPr>
              <a:t>查看状态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5" name="storyboard3-frame">
            <a:extLst>
              <a:ext uri="{FF2B5EF4-FFF2-40B4-BE49-F238E27FC236}">
                <a16:creationId xmlns:a16="http://schemas.microsoft.com/office/drawing/2014/main" id="{93861CF4-EED5-4B7B-9D2F-B0C6D8252E06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2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20">
            <a:extLst>
              <a:ext uri="{FF2B5EF4-FFF2-40B4-BE49-F238E27FC236}">
                <a16:creationId xmlns:a16="http://schemas.microsoft.com/office/drawing/2014/main" id="{D9C690E9-8A1F-4908-A87A-C39650BB1B77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 dirty="0" err="1">
                <a:solidFill>
                  <a:srgbClr val="F4F5F7"/>
                </a:solidFill>
              </a:rPr>
              <a:t>渲染</a:t>
            </a:r>
            <a:r>
              <a:rPr lang="zh-CN" altLang="en-US" sz="2625" b="1" dirty="0">
                <a:solidFill>
                  <a:srgbClr val="F4F5F7"/>
                </a:solidFill>
              </a:rPr>
              <a:t>节点管理</a:t>
            </a:r>
            <a:endParaRPr sz="2625" b="1" dirty="0">
              <a:solidFill>
                <a:srgbClr val="F4F5F7"/>
              </a:solidFill>
            </a:endParaRPr>
          </a:p>
        </p:txBody>
      </p:sp>
      <p:sp>
        <p:nvSpPr>
          <p:cNvPr id="3" name="module-conclusion-20">
            <a:extLst>
              <a:ext uri="{FF2B5EF4-FFF2-40B4-BE49-F238E27FC236}">
                <a16:creationId xmlns:a16="http://schemas.microsoft.com/office/drawing/2014/main" id="{83579E6A-0CEA-4BAA-890C-765CCB5F9AC4}"/>
              </a:ext>
            </a:extLst>
          </p:cNvPr>
          <p:cNvSpPr>
            <a:spLocks noGrp="1"/>
          </p:cNvSpPr>
          <p:nvPr/>
        </p:nvSpPr>
        <p:spPr>
          <a:xfrm>
            <a:off x="6683098" y="381000"/>
            <a:ext cx="4708802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统一查看节点在线、任务和能力状态</a:t>
            </a:r>
            <a:r>
              <a:rPr sz="1400" b="0" dirty="0">
                <a:solidFill>
                  <a:srgbClr val="4FE0A0"/>
                </a:solidFill>
              </a:rPr>
              <a:t>，</a:t>
            </a:r>
            <a:r>
              <a:rPr lang="zh-CN" altLang="en-US" sz="1400" b="0" dirty="0">
                <a:solidFill>
                  <a:srgbClr val="4FE0A0"/>
                </a:solidFill>
              </a:rPr>
              <a:t>配置节点</a:t>
            </a:r>
            <a:r>
              <a:rPr lang="zh-CN" altLang="en-US" sz="1400" dirty="0">
                <a:solidFill>
                  <a:srgbClr val="4FE0A0"/>
                </a:solidFill>
              </a:rPr>
              <a:t>功能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nodes-frame">
            <a:extLst>
              <a:ext uri="{FF2B5EF4-FFF2-40B4-BE49-F238E27FC236}">
                <a16:creationId xmlns:a16="http://schemas.microsoft.com/office/drawing/2014/main" id="{BED13237-E9E2-4EFD-9642-6D8967561D42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000" y="857250"/>
            <a:ext cx="104140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61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ule-title-21">
            <a:extLst>
              <a:ext uri="{FF2B5EF4-FFF2-40B4-BE49-F238E27FC236}">
                <a16:creationId xmlns:a16="http://schemas.microsoft.com/office/drawing/2014/main" id="{FDC0DEC2-404E-40F8-AEA9-A4344309E564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638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F4F5F7"/>
                </a:solidFill>
              </a:defRPr>
            </a:pPr>
            <a:r>
              <a:rPr sz="2625" b="1">
                <a:solidFill>
                  <a:srgbClr val="F4F5F7"/>
                </a:solidFill>
              </a:rPr>
              <a:t>Flowx Skill · 让能力可复用</a:t>
            </a:r>
          </a:p>
        </p:txBody>
      </p:sp>
      <p:sp>
        <p:nvSpPr>
          <p:cNvPr id="3" name="module-conclusion-21">
            <a:extLst>
              <a:ext uri="{FF2B5EF4-FFF2-40B4-BE49-F238E27FC236}">
                <a16:creationId xmlns:a16="http://schemas.microsoft.com/office/drawing/2014/main" id="{5B0EF5CD-1018-4F43-B0DE-62E0DAA039E3}"/>
              </a:ext>
            </a:extLst>
          </p:cNvPr>
          <p:cNvSpPr>
            <a:spLocks noGrp="1"/>
          </p:cNvSpPr>
          <p:nvPr/>
        </p:nvSpPr>
        <p:spPr>
          <a:xfrm>
            <a:off x="7296150" y="338138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050" b="0">
                <a:solidFill>
                  <a:srgbClr val="A0A4AF"/>
                </a:solidFill>
              </a:defRPr>
            </a:pPr>
            <a:r>
              <a:rPr sz="1400" b="0" dirty="0" err="1">
                <a:solidFill>
                  <a:srgbClr val="4FE0A0"/>
                </a:solidFill>
              </a:rPr>
              <a:t>把平台能力打包给团队使用</a:t>
            </a:r>
            <a:endParaRPr sz="1400" b="0" dirty="0">
              <a:solidFill>
                <a:srgbClr val="4FE0A0"/>
              </a:solidFill>
            </a:endParaRPr>
          </a:p>
        </p:txBody>
      </p:sp>
      <p:sp>
        <p:nvSpPr>
          <p:cNvPr id="5" name="skill-frame">
            <a:extLst>
              <a:ext uri="{FF2B5EF4-FFF2-40B4-BE49-F238E27FC236}">
                <a16:creationId xmlns:a16="http://schemas.microsoft.com/office/drawing/2014/main" id="{4E181947-66FB-4CF9-8A83-7ED1201D6B98}"/>
              </a:ext>
            </a:extLst>
          </p:cNvPr>
          <p:cNvSpPr>
            <a:spLocks noGrp="1"/>
          </p:cNvSpPr>
          <p:nvPr/>
        </p:nvSpPr>
        <p:spPr>
          <a:xfrm>
            <a:off x="800100" y="800100"/>
            <a:ext cx="10591800" cy="5972175"/>
          </a:xfrm>
          <a:prstGeom prst="roundRect">
            <a:avLst>
              <a:gd name="adj" fmla="val 2233"/>
            </a:avLst>
          </a:prstGeom>
          <a:solidFill>
            <a:srgbClr val="24262D"/>
          </a:solidFill>
          <a:ln w="9525">
            <a:solidFill>
              <a:srgbClr val="3A3D45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4709" y="857250"/>
            <a:ext cx="10402581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7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comes-title">
            <a:extLst>
              <a:ext uri="{FF2B5EF4-FFF2-40B4-BE49-F238E27FC236}">
                <a16:creationId xmlns:a16="http://schemas.microsoft.com/office/drawing/2014/main" id="{5E5C28DB-F5AE-4BE9-8D61-8C1AC2FD1228}"/>
              </a:ext>
            </a:extLst>
          </p:cNvPr>
          <p:cNvSpPr>
            <a:spLocks noGrp="1"/>
          </p:cNvSpPr>
          <p:nvPr/>
        </p:nvSpPr>
        <p:spPr>
          <a:xfrm>
            <a:off x="571500" y="657225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F4F5F7"/>
                </a:solidFill>
              </a:defRPr>
            </a:pPr>
            <a:r>
              <a:rPr sz="3000" b="1">
                <a:solidFill>
                  <a:srgbClr val="F4F5F7"/>
                </a:solidFill>
              </a:rPr>
              <a:t>让 AI 能力变成持续发生的内容产出</a:t>
            </a:r>
          </a:p>
        </p:txBody>
      </p:sp>
      <p:sp>
        <p:nvSpPr>
          <p:cNvPr id="3" name="outcomes-header-line">
            <a:extLst>
              <a:ext uri="{FF2B5EF4-FFF2-40B4-BE49-F238E27FC236}">
                <a16:creationId xmlns:a16="http://schemas.microsoft.com/office/drawing/2014/main" id="{817FB7F8-095D-4D9F-845E-520FB779984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outcomes-calls">
            <a:extLst>
              <a:ext uri="{FF2B5EF4-FFF2-40B4-BE49-F238E27FC236}">
                <a16:creationId xmlns:a16="http://schemas.microsoft.com/office/drawing/2014/main" id="{C9BF1A89-246C-4889-B360-CA965BFCC05D}"/>
              </a:ext>
            </a:extLst>
          </p:cNvPr>
          <p:cNvSpPr>
            <a:spLocks noGrp="1"/>
          </p:cNvSpPr>
          <p:nvPr/>
        </p:nvSpPr>
        <p:spPr>
          <a:xfrm>
            <a:off x="2667000" y="2889804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C8FF00"/>
                </a:solidFill>
              </a:defRPr>
            </a:pPr>
            <a:r>
              <a:rPr lang="en-US" sz="4350" b="1" dirty="0">
                <a:solidFill>
                  <a:srgbClr val="C8FF00"/>
                </a:solidFill>
              </a:rPr>
              <a:t>2</a:t>
            </a:r>
            <a:r>
              <a:rPr sz="4350" b="1" dirty="0">
                <a:solidFill>
                  <a:srgbClr val="C8FF00"/>
                </a:solidFill>
              </a:rPr>
              <a:t>w+</a:t>
            </a:r>
          </a:p>
        </p:txBody>
      </p:sp>
      <p:sp>
        <p:nvSpPr>
          <p:cNvPr id="6" name="outcomes-calls-label">
            <a:extLst>
              <a:ext uri="{FF2B5EF4-FFF2-40B4-BE49-F238E27FC236}">
                <a16:creationId xmlns:a16="http://schemas.microsoft.com/office/drawing/2014/main" id="{3AC56427-08D3-444D-A7E2-6AC6BABAA25E}"/>
              </a:ext>
            </a:extLst>
          </p:cNvPr>
          <p:cNvSpPr>
            <a:spLocks noGrp="1"/>
          </p:cNvSpPr>
          <p:nvPr/>
        </p:nvSpPr>
        <p:spPr>
          <a:xfrm>
            <a:off x="2705100" y="3670854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5F7"/>
                </a:solidFill>
              </a:defRPr>
            </a:pPr>
            <a:r>
              <a:rPr sz="1500" b="1">
                <a:solidFill>
                  <a:srgbClr val="F4F5F7"/>
                </a:solidFill>
              </a:rPr>
              <a:t>累计调用次数</a:t>
            </a:r>
          </a:p>
        </p:txBody>
      </p:sp>
      <p:sp>
        <p:nvSpPr>
          <p:cNvPr id="7" name="outcomes-divider">
            <a:extLst>
              <a:ext uri="{FF2B5EF4-FFF2-40B4-BE49-F238E27FC236}">
                <a16:creationId xmlns:a16="http://schemas.microsoft.com/office/drawing/2014/main" id="{C58017E5-96E3-47A4-A431-B3B514215FA5}"/>
              </a:ext>
            </a:extLst>
          </p:cNvPr>
          <p:cNvSpPr>
            <a:spLocks noGrp="1"/>
          </p:cNvSpPr>
          <p:nvPr/>
        </p:nvSpPr>
        <p:spPr>
          <a:xfrm>
            <a:off x="6086475" y="2832654"/>
            <a:ext cx="9525" cy="1352550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8" name="outcomes-assets">
            <a:extLst>
              <a:ext uri="{FF2B5EF4-FFF2-40B4-BE49-F238E27FC236}">
                <a16:creationId xmlns:a16="http://schemas.microsoft.com/office/drawing/2014/main" id="{EBF7B65B-A56A-4069-B394-180118F6D1F1}"/>
              </a:ext>
            </a:extLst>
          </p:cNvPr>
          <p:cNvSpPr>
            <a:spLocks noGrp="1"/>
          </p:cNvSpPr>
          <p:nvPr/>
        </p:nvSpPr>
        <p:spPr>
          <a:xfrm>
            <a:off x="8096250" y="2832654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4FE0A0"/>
                </a:solidFill>
              </a:defRPr>
            </a:pPr>
            <a:r>
              <a:rPr sz="4350" b="1" dirty="0">
                <a:solidFill>
                  <a:srgbClr val="4FE0A0"/>
                </a:solidFill>
              </a:rPr>
              <a:t>4w+</a:t>
            </a:r>
          </a:p>
        </p:txBody>
      </p:sp>
      <p:sp>
        <p:nvSpPr>
          <p:cNvPr id="9" name="outcomes-assets-label">
            <a:extLst>
              <a:ext uri="{FF2B5EF4-FFF2-40B4-BE49-F238E27FC236}">
                <a16:creationId xmlns:a16="http://schemas.microsoft.com/office/drawing/2014/main" id="{30C95BCC-F380-441D-859A-FEB6526936BA}"/>
              </a:ext>
            </a:extLst>
          </p:cNvPr>
          <p:cNvSpPr>
            <a:spLocks noGrp="1"/>
          </p:cNvSpPr>
          <p:nvPr/>
        </p:nvSpPr>
        <p:spPr>
          <a:xfrm>
            <a:off x="7998027" y="3670854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4F5F7"/>
                </a:solidFill>
              </a:defRPr>
            </a:pPr>
            <a:r>
              <a:rPr sz="1500" b="1">
                <a:solidFill>
                  <a:srgbClr val="F4F5F7"/>
                </a:solidFill>
              </a:rPr>
              <a:t>产出素材份数</a:t>
            </a:r>
          </a:p>
        </p:txBody>
      </p:sp>
      <p:sp>
        <p:nvSpPr>
          <p:cNvPr id="18" name="background-accent">
            <a:extLst>
              <a:ext uri="{FF2B5EF4-FFF2-40B4-BE49-F238E27FC236}">
                <a16:creationId xmlns:a16="http://schemas.microsoft.com/office/drawing/2014/main" id="{58340832-8866-9788-6EC2-55178F32D4F1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DCD933-7A7A-FDAC-F9A8-6D7214EBAB07}"/>
              </a:ext>
            </a:extLst>
          </p:cNvPr>
          <p:cNvSpPr txBox="1"/>
          <p:nvPr/>
        </p:nvSpPr>
        <p:spPr>
          <a:xfrm>
            <a:off x="571500" y="1610046"/>
            <a:ext cx="60970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E0A0"/>
                </a:solidFill>
              </a:defRPr>
            </a:pPr>
            <a:r>
              <a:rPr lang="en-US" altLang="zh-CN" b="1" dirty="0">
                <a:solidFill>
                  <a:srgbClr val="4FE0A0"/>
                </a:solidFill>
              </a:rPr>
              <a:t>AI</a:t>
            </a:r>
            <a:r>
              <a:rPr lang="zh-CN" altLang="en-US" b="1" dirty="0">
                <a:solidFill>
                  <a:srgbClr val="4FE0A0"/>
                </a:solidFill>
              </a:rPr>
              <a:t> 赋能，提效生产</a:t>
            </a:r>
            <a:endParaRPr lang="zh-CN" altLang="en-US" sz="1800" b="1" dirty="0">
              <a:solidFill>
                <a:srgbClr val="4FE0A0"/>
              </a:solidFill>
            </a:endParaRPr>
          </a:p>
        </p:txBody>
      </p:sp>
      <p:sp>
        <p:nvSpPr>
          <p:cNvPr id="21" name="outcomes-header-line">
            <a:extLst>
              <a:ext uri="{FF2B5EF4-FFF2-40B4-BE49-F238E27FC236}">
                <a16:creationId xmlns:a16="http://schemas.microsoft.com/office/drawing/2014/main" id="{5B68165D-C111-F042-A755-2F3D62362A04}"/>
              </a:ext>
            </a:extLst>
          </p:cNvPr>
          <p:cNvSpPr>
            <a:spLocks noGrp="1"/>
          </p:cNvSpPr>
          <p:nvPr/>
        </p:nvSpPr>
        <p:spPr>
          <a:xfrm>
            <a:off x="666750" y="5570058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2863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act-title">
            <a:extLst>
              <a:ext uri="{FF2B5EF4-FFF2-40B4-BE49-F238E27FC236}">
                <a16:creationId xmlns:a16="http://schemas.microsoft.com/office/drawing/2014/main" id="{CB59C89A-08B7-468C-BCA5-251CA1D3CC18}"/>
              </a:ext>
            </a:extLst>
          </p:cNvPr>
          <p:cNvSpPr>
            <a:spLocks noGrp="1"/>
          </p:cNvSpPr>
          <p:nvPr/>
        </p:nvSpPr>
        <p:spPr>
          <a:xfrm>
            <a:off x="679024" y="638175"/>
            <a:ext cx="571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300" b="1">
                <a:solidFill>
                  <a:srgbClr val="F4F5F7"/>
                </a:solidFill>
              </a:defRPr>
            </a:pPr>
            <a:r>
              <a:rPr lang="en-US" sz="3300" b="1" dirty="0">
                <a:solidFill>
                  <a:srgbClr val="F4F5F7"/>
                </a:solidFill>
              </a:rPr>
              <a:t>A</a:t>
            </a:r>
            <a:r>
              <a:rPr lang="en-US" altLang="zh-CN" sz="3300" b="1" dirty="0">
                <a:solidFill>
                  <a:srgbClr val="F4F5F7"/>
                </a:solidFill>
              </a:rPr>
              <a:t>bout Me</a:t>
            </a:r>
            <a:endParaRPr sz="3300" b="1" dirty="0">
              <a:solidFill>
                <a:srgbClr val="F4F5F7"/>
              </a:solidFill>
            </a:endParaRPr>
          </a:p>
        </p:txBody>
      </p:sp>
      <p:sp>
        <p:nvSpPr>
          <p:cNvPr id="3" name="contact-header-line">
            <a:extLst>
              <a:ext uri="{FF2B5EF4-FFF2-40B4-BE49-F238E27FC236}">
                <a16:creationId xmlns:a16="http://schemas.microsoft.com/office/drawing/2014/main" id="{58121A51-40E4-4B57-B287-EE72FC91B37A}"/>
              </a:ext>
            </a:extLst>
          </p:cNvPr>
          <p:cNvSpPr>
            <a:spLocks noGrp="1"/>
          </p:cNvSpPr>
          <p:nvPr/>
        </p:nvSpPr>
        <p:spPr>
          <a:xfrm>
            <a:off x="679024" y="1381125"/>
            <a:ext cx="1085850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5" name="contact-name-label">
            <a:extLst>
              <a:ext uri="{FF2B5EF4-FFF2-40B4-BE49-F238E27FC236}">
                <a16:creationId xmlns:a16="http://schemas.microsoft.com/office/drawing/2014/main" id="{7F6F8FDF-846B-4175-A08E-700E24F58B7E}"/>
              </a:ext>
            </a:extLst>
          </p:cNvPr>
          <p:cNvSpPr>
            <a:spLocks noGrp="1"/>
          </p:cNvSpPr>
          <p:nvPr/>
        </p:nvSpPr>
        <p:spPr>
          <a:xfrm>
            <a:off x="826565" y="2521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sz="1350" b="0">
                <a:solidFill>
                  <a:srgbClr val="737783"/>
                </a:solidFill>
              </a:rPr>
              <a:t>姓名</a:t>
            </a:r>
          </a:p>
        </p:txBody>
      </p:sp>
      <p:sp>
        <p:nvSpPr>
          <p:cNvPr id="6" name="contact-name">
            <a:extLst>
              <a:ext uri="{FF2B5EF4-FFF2-40B4-BE49-F238E27FC236}">
                <a16:creationId xmlns:a16="http://schemas.microsoft.com/office/drawing/2014/main" id="{50EC07AE-2894-4C60-B92B-4C3496484A80}"/>
              </a:ext>
            </a:extLst>
          </p:cNvPr>
          <p:cNvSpPr>
            <a:spLocks noGrp="1"/>
          </p:cNvSpPr>
          <p:nvPr/>
        </p:nvSpPr>
        <p:spPr>
          <a:xfrm>
            <a:off x="2160065" y="2445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zh-CN" altLang="en-US" sz="1950" b="1" dirty="0">
                <a:solidFill>
                  <a:srgbClr val="F4F5F7"/>
                </a:solidFill>
              </a:rPr>
              <a:t>钟丰骏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7" name="contact-line-1">
            <a:extLst>
              <a:ext uri="{FF2B5EF4-FFF2-40B4-BE49-F238E27FC236}">
                <a16:creationId xmlns:a16="http://schemas.microsoft.com/office/drawing/2014/main" id="{52C78AE6-58F2-470D-92F0-5B77F96E8278}"/>
              </a:ext>
            </a:extLst>
          </p:cNvPr>
          <p:cNvSpPr>
            <a:spLocks noGrp="1"/>
          </p:cNvSpPr>
          <p:nvPr/>
        </p:nvSpPr>
        <p:spPr>
          <a:xfrm>
            <a:off x="826565" y="2940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8" name="contact-email-label">
            <a:extLst>
              <a:ext uri="{FF2B5EF4-FFF2-40B4-BE49-F238E27FC236}">
                <a16:creationId xmlns:a16="http://schemas.microsoft.com/office/drawing/2014/main" id="{C920A74A-F576-4716-B100-FA1FB0B63745}"/>
              </a:ext>
            </a:extLst>
          </p:cNvPr>
          <p:cNvSpPr>
            <a:spLocks noGrp="1"/>
          </p:cNvSpPr>
          <p:nvPr/>
        </p:nvSpPr>
        <p:spPr>
          <a:xfrm>
            <a:off x="826565" y="3283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zh-CN" altLang="en-US" sz="1350" dirty="0">
                <a:solidFill>
                  <a:srgbClr val="737783"/>
                </a:solidFill>
              </a:rPr>
              <a:t>微信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9" name="contact-email">
            <a:extLst>
              <a:ext uri="{FF2B5EF4-FFF2-40B4-BE49-F238E27FC236}">
                <a16:creationId xmlns:a16="http://schemas.microsoft.com/office/drawing/2014/main" id="{A188049F-BD15-412A-BA46-39FC4CE4A856}"/>
              </a:ext>
            </a:extLst>
          </p:cNvPr>
          <p:cNvSpPr>
            <a:spLocks noGrp="1"/>
          </p:cNvSpPr>
          <p:nvPr/>
        </p:nvSpPr>
        <p:spPr>
          <a:xfrm>
            <a:off x="2160065" y="3207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sz="1950" b="1" dirty="0">
                <a:solidFill>
                  <a:srgbClr val="F4F5F7"/>
                </a:solidFill>
              </a:rPr>
              <a:t>F</a:t>
            </a:r>
            <a:r>
              <a:rPr lang="en-US" altLang="zh-CN" sz="1950" b="1" dirty="0">
                <a:solidFill>
                  <a:srgbClr val="F4F5F7"/>
                </a:solidFill>
              </a:rPr>
              <a:t>injix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10" name="contact-line-2">
            <a:extLst>
              <a:ext uri="{FF2B5EF4-FFF2-40B4-BE49-F238E27FC236}">
                <a16:creationId xmlns:a16="http://schemas.microsoft.com/office/drawing/2014/main" id="{063676A9-5118-413E-BC3E-1E097B8F60C8}"/>
              </a:ext>
            </a:extLst>
          </p:cNvPr>
          <p:cNvSpPr>
            <a:spLocks noGrp="1"/>
          </p:cNvSpPr>
          <p:nvPr/>
        </p:nvSpPr>
        <p:spPr>
          <a:xfrm>
            <a:off x="826565" y="3702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11" name="contact-phone-label">
            <a:extLst>
              <a:ext uri="{FF2B5EF4-FFF2-40B4-BE49-F238E27FC236}">
                <a16:creationId xmlns:a16="http://schemas.microsoft.com/office/drawing/2014/main" id="{8F5D80DB-2E2B-4F68-881D-CDE400441063}"/>
              </a:ext>
            </a:extLst>
          </p:cNvPr>
          <p:cNvSpPr>
            <a:spLocks noGrp="1"/>
          </p:cNvSpPr>
          <p:nvPr/>
        </p:nvSpPr>
        <p:spPr>
          <a:xfrm>
            <a:off x="826565" y="4045888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en-US" sz="1350" dirty="0" err="1">
                <a:solidFill>
                  <a:srgbClr val="737783"/>
                </a:solidFill>
              </a:rPr>
              <a:t>G</a:t>
            </a:r>
            <a:r>
              <a:rPr lang="en-US" altLang="zh-CN" sz="1350" dirty="0" err="1">
                <a:solidFill>
                  <a:srgbClr val="737783"/>
                </a:solidFill>
              </a:rPr>
              <a:t>ithub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12" name="contact-phone">
            <a:extLst>
              <a:ext uri="{FF2B5EF4-FFF2-40B4-BE49-F238E27FC236}">
                <a16:creationId xmlns:a16="http://schemas.microsoft.com/office/drawing/2014/main" id="{3D79B43B-E869-4013-9E85-B40163B9DC6A}"/>
              </a:ext>
            </a:extLst>
          </p:cNvPr>
          <p:cNvSpPr>
            <a:spLocks noGrp="1"/>
          </p:cNvSpPr>
          <p:nvPr/>
        </p:nvSpPr>
        <p:spPr>
          <a:xfrm>
            <a:off x="2160065" y="3969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sz="1950" b="1" dirty="0">
                <a:solidFill>
                  <a:srgbClr val="F4F5F7"/>
                </a:solidFill>
              </a:rPr>
              <a:t>https://github.com/Finjix</a:t>
            </a:r>
            <a:endParaRPr sz="1950" b="1" dirty="0">
              <a:solidFill>
                <a:srgbClr val="F4F5F7"/>
              </a:solidFill>
            </a:endParaRPr>
          </a:p>
        </p:txBody>
      </p:sp>
      <p:sp>
        <p:nvSpPr>
          <p:cNvPr id="13" name="contact-line-3">
            <a:extLst>
              <a:ext uri="{FF2B5EF4-FFF2-40B4-BE49-F238E27FC236}">
                <a16:creationId xmlns:a16="http://schemas.microsoft.com/office/drawing/2014/main" id="{BD4B2B7F-2E09-4AA6-B011-02079A344FD1}"/>
              </a:ext>
            </a:extLst>
          </p:cNvPr>
          <p:cNvSpPr>
            <a:spLocks noGrp="1"/>
          </p:cNvSpPr>
          <p:nvPr/>
        </p:nvSpPr>
        <p:spPr>
          <a:xfrm>
            <a:off x="826565" y="4464988"/>
            <a:ext cx="5429250" cy="9525"/>
          </a:xfrm>
          <a:prstGeom prst="rect">
            <a:avLst/>
          </a:prstGeom>
          <a:solidFill>
            <a:srgbClr val="3A3D45"/>
          </a:solidFill>
          <a:ln w="0">
            <a:noFill/>
            <a:prstDash val="solid"/>
          </a:ln>
        </p:spPr>
      </p:sp>
      <p:sp>
        <p:nvSpPr>
          <p:cNvPr id="14" name="contact-social-label">
            <a:extLst>
              <a:ext uri="{FF2B5EF4-FFF2-40B4-BE49-F238E27FC236}">
                <a16:creationId xmlns:a16="http://schemas.microsoft.com/office/drawing/2014/main" id="{B4733E23-11B3-4934-9BB7-2CD016975D2A}"/>
              </a:ext>
            </a:extLst>
          </p:cNvPr>
          <p:cNvSpPr>
            <a:spLocks noGrp="1"/>
          </p:cNvSpPr>
          <p:nvPr/>
        </p:nvSpPr>
        <p:spPr>
          <a:xfrm>
            <a:off x="826565" y="4807888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737783"/>
                </a:solidFill>
              </a:defRPr>
            </a:pPr>
            <a:r>
              <a:rPr lang="en-US" sz="1350" dirty="0" err="1">
                <a:solidFill>
                  <a:srgbClr val="737783"/>
                </a:solidFill>
              </a:rPr>
              <a:t>B</a:t>
            </a:r>
            <a:r>
              <a:rPr lang="en-US" altLang="zh-CN" sz="1350" dirty="0" err="1">
                <a:solidFill>
                  <a:srgbClr val="737783"/>
                </a:solidFill>
              </a:rPr>
              <a:t>ilibili</a:t>
            </a:r>
            <a:endParaRPr sz="1350" b="0" dirty="0">
              <a:solidFill>
                <a:srgbClr val="737783"/>
              </a:solidFill>
            </a:endParaRPr>
          </a:p>
        </p:txBody>
      </p:sp>
      <p:sp>
        <p:nvSpPr>
          <p:cNvPr id="15" name="contact-social">
            <a:extLst>
              <a:ext uri="{FF2B5EF4-FFF2-40B4-BE49-F238E27FC236}">
                <a16:creationId xmlns:a16="http://schemas.microsoft.com/office/drawing/2014/main" id="{1E1AE4E1-073A-458A-80B5-075381F32C7C}"/>
              </a:ext>
            </a:extLst>
          </p:cNvPr>
          <p:cNvSpPr>
            <a:spLocks noGrp="1"/>
          </p:cNvSpPr>
          <p:nvPr/>
        </p:nvSpPr>
        <p:spPr>
          <a:xfrm>
            <a:off x="2160065" y="4731688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F4F5F7"/>
                </a:solidFill>
              </a:defRPr>
            </a:pPr>
            <a:r>
              <a:rPr lang="en-US" altLang="zh-CN" dirty="0"/>
              <a:t>https://space.bilibili.com/287940461</a:t>
            </a:r>
            <a:endParaRPr lang="en-US" altLang="zh-CN" sz="1950" b="1" dirty="0">
              <a:solidFill>
                <a:srgbClr val="F4F5F7"/>
              </a:solidFill>
            </a:endParaRPr>
          </a:p>
        </p:txBody>
      </p:sp>
      <p:sp>
        <p:nvSpPr>
          <p:cNvPr id="4" name="background-accent">
            <a:extLst>
              <a:ext uri="{FF2B5EF4-FFF2-40B4-BE49-F238E27FC236}">
                <a16:creationId xmlns:a16="http://schemas.microsoft.com/office/drawing/2014/main" id="{BF6459EE-FCA8-205A-1736-B25A97322E55}"/>
              </a:ext>
            </a:extLst>
          </p:cNvPr>
          <p:cNvSpPr>
            <a:spLocks noGrp="1"/>
          </p:cNvSpPr>
          <p:nvPr/>
        </p:nvSpPr>
        <p:spPr>
          <a:xfrm>
            <a:off x="666750" y="424949"/>
            <a:ext cx="628650" cy="47625"/>
          </a:xfrm>
          <a:prstGeom prst="rect">
            <a:avLst/>
          </a:prstGeom>
          <a:solidFill>
            <a:srgbClr val="C8FF00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5899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1363</Words>
  <Application>Microsoft Office PowerPoint</Application>
  <DocSecurity>0</DocSecurity>
  <PresentationFormat>宽屏</PresentationFormat>
  <Paragraphs>137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丰骏 ⁡钟</cp:lastModifiedBy>
  <cp:revision>3</cp:revision>
  <dcterms:created xsi:type="dcterms:W3CDTF">2026-08-16T14:31:39Z</dcterms:created>
  <dcterms:modified xsi:type="dcterms:W3CDTF">2026-08-16T15:48:19Z</dcterms:modified>
</cp:coreProperties>
</file>
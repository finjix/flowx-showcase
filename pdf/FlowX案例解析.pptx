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1" r:id="rId4"/>
    <p:sldId id="258" r:id="rId5"/>
    <p:sldId id="259" r:id="rId6"/>
    <p:sldId id="270" r:id="rId7"/>
    <p:sldId id="273" r:id="rId8"/>
    <p:sldId id="274" r:id="rId9"/>
    <p:sldId id="261" r:id="rId10"/>
    <p:sldId id="272" r:id="rId11"/>
    <p:sldId id="265" r:id="rId12"/>
    <p:sldId id="266" r:id="rId13"/>
    <p:sldId id="275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999" autoAdjust="0"/>
  </p:normalViewPr>
  <p:slideViewPr>
    <p:cSldViewPr snapToGrid="0">
      <p:cViewPr varScale="1">
        <p:scale>
          <a:sx n="129" d="100"/>
          <a:sy n="129" d="100"/>
        </p:scale>
        <p:origin x="14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590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8317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6594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7128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522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8653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6830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smtClean="0"/>
              <a:t>[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9298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8326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5881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6953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8332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1831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1279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0536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1EEA0D6F-A3E6-4E72-B5B8-F4388164750F}"/>
              </a:ext>
            </a:extLst>
          </p:cNvPr>
          <p:cNvSpPr>
            <a:spLocks noGrp="1"/>
          </p:cNvSpPr>
          <p:nvPr/>
        </p:nvSpPr>
        <p:spPr>
          <a:xfrm>
            <a:off x="423022" y="4572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B8FF00"/>
                </a:solidFill>
              </a:defRPr>
            </a:pPr>
            <a:r>
              <a:rPr sz="1050" b="1" dirty="0">
                <a:solidFill>
                  <a:srgbClr val="B8FF00"/>
                </a:solidFill>
              </a:rPr>
              <a:t>FLOWX · AI PRODUCTION CASES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D3FE9AA5-902C-40B3-89AF-2BAA683A5B14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447800" cy="47625"/>
          </a:xfrm>
          <a:prstGeom prst="rect">
            <a:avLst/>
          </a:prstGeom>
          <a:solidFill>
            <a:srgbClr val="B8FF00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1A2949A8-28F5-43D3-8B55-78005A86A8CC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239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100" b="1">
                <a:solidFill>
                  <a:srgbClr val="F4F7F8"/>
                </a:solidFill>
              </a:defRPr>
            </a:pPr>
            <a:r>
              <a:rPr lang="en-US" sz="5100" b="1" dirty="0" err="1" smtClean="0">
                <a:solidFill>
                  <a:srgbClr val="F4F7F8"/>
                </a:solidFill>
              </a:rPr>
              <a:t>F</a:t>
            </a:r>
            <a:r>
              <a:rPr lang="en-US" altLang="zh-CN" sz="5100" b="1" dirty="0" err="1" smtClean="0">
                <a:solidFill>
                  <a:srgbClr val="F4F7F8"/>
                </a:solidFill>
              </a:rPr>
              <a:t>lowX</a:t>
            </a:r>
            <a:r>
              <a:rPr lang="en-US" altLang="zh-CN" sz="5100" b="1" dirty="0" smtClean="0">
                <a:solidFill>
                  <a:srgbClr val="F4F7F8"/>
                </a:solidFill>
              </a:rPr>
              <a:t> </a:t>
            </a:r>
            <a:r>
              <a:rPr sz="5100" b="1" dirty="0" err="1" smtClean="0">
                <a:solidFill>
                  <a:srgbClr val="F4F7F8"/>
                </a:solidFill>
              </a:rPr>
              <a:t>案例解析</a:t>
            </a:r>
            <a:endParaRPr sz="5100" b="1" dirty="0">
              <a:solidFill>
                <a:srgbClr val="F4F7F8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4150A235-D6BF-4EDD-857C-387E4B1E09FA}"/>
              </a:ext>
            </a:extLst>
          </p:cNvPr>
          <p:cNvSpPr>
            <a:spLocks noGrp="1"/>
          </p:cNvSpPr>
          <p:nvPr/>
        </p:nvSpPr>
        <p:spPr>
          <a:xfrm>
            <a:off x="628650" y="2533650"/>
            <a:ext cx="923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0">
                <a:solidFill>
                  <a:srgbClr val="F4F7F8"/>
                </a:solidFill>
              </a:defRPr>
            </a:pPr>
            <a:r>
              <a:rPr sz="2250" b="0">
                <a:solidFill>
                  <a:srgbClr val="F4F7F8"/>
                </a:solidFill>
              </a:rPr>
              <a:t>把模糊需求转化为可交付的 AI 生产工具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F87F8968-2898-4FD5-9FFC-E7EC681C8895}"/>
              </a:ext>
            </a:extLst>
          </p:cNvPr>
          <p:cNvSpPr>
            <a:spLocks noGrp="1"/>
          </p:cNvSpPr>
          <p:nvPr/>
        </p:nvSpPr>
        <p:spPr>
          <a:xfrm>
            <a:off x="647700" y="3219450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95A0AA"/>
                </a:solidFill>
              </a:defRPr>
            </a:pPr>
            <a:r>
              <a:rPr lang="zh-CN" altLang="en-US" sz="1425" b="0" dirty="0" smtClean="0">
                <a:solidFill>
                  <a:srgbClr val="95A0AA"/>
                </a:solidFill>
              </a:rPr>
              <a:t>旗舰项目模块：</a:t>
            </a:r>
            <a:r>
              <a:rPr sz="1425" b="0" dirty="0" err="1" smtClean="0">
                <a:solidFill>
                  <a:srgbClr val="95A0AA"/>
                </a:solidFill>
              </a:rPr>
              <a:t>游戏回流广告素材生成</a:t>
            </a:r>
            <a:r>
              <a:rPr sz="1425" b="0" dirty="0" smtClean="0">
                <a:solidFill>
                  <a:srgbClr val="95A0AA"/>
                </a:solidFill>
              </a:rPr>
              <a:t>  </a:t>
            </a:r>
            <a:r>
              <a:rPr sz="1425" b="0" dirty="0">
                <a:solidFill>
                  <a:srgbClr val="95A0AA"/>
                </a:solidFill>
              </a:rPr>
              <a:t>×  </a:t>
            </a:r>
            <a:r>
              <a:rPr sz="1425" b="0" dirty="0" err="1" smtClean="0">
                <a:solidFill>
                  <a:srgbClr val="95A0AA"/>
                </a:solidFill>
              </a:rPr>
              <a:t>大屏素材自动渲染</a:t>
            </a:r>
            <a:endParaRPr sz="1425" b="0" dirty="0">
              <a:solidFill>
                <a:srgbClr val="95A0AA"/>
              </a:solidFill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="" xmlns:a16="http://schemas.microsoft.com/office/drawing/2014/main" id="{4C739905-4FD8-49DA-9AE1-F0B4E04642C6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5029200" cy="990600"/>
          </a:xfrm>
          <a:prstGeom prst="roundRect">
            <a:avLst>
              <a:gd name="adj" fmla="val 11538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E27B6F20-9110-4C20-B6A1-175FE5684579}"/>
              </a:ext>
            </a:extLst>
          </p:cNvPr>
          <p:cNvSpPr>
            <a:spLocks noGrp="1"/>
          </p:cNvSpPr>
          <p:nvPr/>
        </p:nvSpPr>
        <p:spPr>
          <a:xfrm>
            <a:off x="819150" y="52387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B8FF00"/>
                </a:solidFill>
              </a:defRPr>
            </a:pPr>
            <a:r>
              <a:rPr sz="1050" b="1">
                <a:solidFill>
                  <a:srgbClr val="B8FF00"/>
                </a:solidFill>
              </a:rPr>
              <a:t>CASE 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3D82577-2F6C-417D-9690-C40F012FC336}"/>
              </a:ext>
            </a:extLst>
          </p:cNvPr>
          <p:cNvSpPr>
            <a:spLocks noGrp="1"/>
          </p:cNvSpPr>
          <p:nvPr/>
        </p:nvSpPr>
        <p:spPr>
          <a:xfrm>
            <a:off x="819150" y="55245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4F7F8"/>
                </a:solidFill>
              </a:defRPr>
            </a:pPr>
            <a:r>
              <a:rPr sz="1650" b="1">
                <a:solidFill>
                  <a:srgbClr val="F4F7F8"/>
                </a:solidFill>
              </a:rPr>
              <a:t>研究驱动的广告素材批量生产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="" xmlns:a16="http://schemas.microsoft.com/office/drawing/2014/main" id="{61A1B291-F5D2-4913-92C7-99EA382200D2}"/>
              </a:ext>
            </a:extLst>
          </p:cNvPr>
          <p:cNvSpPr>
            <a:spLocks noGrp="1"/>
          </p:cNvSpPr>
          <p:nvPr/>
        </p:nvSpPr>
        <p:spPr>
          <a:xfrm>
            <a:off x="5886450" y="5029200"/>
            <a:ext cx="5029200" cy="990600"/>
          </a:xfrm>
          <a:prstGeom prst="roundRect">
            <a:avLst>
              <a:gd name="adj" fmla="val 11538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177274B6-F2E6-4ACC-93C7-72E013F882D8}"/>
              </a:ext>
            </a:extLst>
          </p:cNvPr>
          <p:cNvSpPr>
            <a:spLocks noGrp="1"/>
          </p:cNvSpPr>
          <p:nvPr/>
        </p:nvSpPr>
        <p:spPr>
          <a:xfrm>
            <a:off x="6096000" y="52387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3D6E8"/>
                </a:solidFill>
              </a:defRPr>
            </a:pPr>
            <a:r>
              <a:rPr sz="1050" b="1">
                <a:solidFill>
                  <a:srgbClr val="43D6E8"/>
                </a:solidFill>
              </a:rPr>
              <a:t>CASE 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4C80AFE-25B5-4E83-8BDF-95E1E60D6701}"/>
              </a:ext>
            </a:extLst>
          </p:cNvPr>
          <p:cNvSpPr>
            <a:spLocks noGrp="1"/>
          </p:cNvSpPr>
          <p:nvPr/>
        </p:nvSpPr>
        <p:spPr>
          <a:xfrm>
            <a:off x="6096000" y="55245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4F7F8"/>
                </a:solidFill>
              </a:defRPr>
            </a:pPr>
            <a:r>
              <a:rPr sz="1650" b="1">
                <a:solidFill>
                  <a:srgbClr val="F4F7F8"/>
                </a:solidFill>
              </a:rPr>
              <a:t>平台驱动的本地 AE 自动执行</a:t>
            </a:r>
          </a:p>
        </p:txBody>
      </p:sp>
    </p:spTree>
    <p:extLst>
      <p:ext uri="{BB962C8B-B14F-4D97-AF65-F5344CB8AC3E}">
        <p14:creationId xmlns:p14="http://schemas.microsoft.com/office/powerpoint/2010/main" val="39100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="" xmlns:a16="http://schemas.microsoft.com/office/drawing/2014/main" id="{7569FF9D-B7F1-4138-AE4E-3117378874EC}"/>
              </a:ext>
            </a:extLst>
          </p:cNvPr>
          <p:cNvSpPr>
            <a:spLocks noGrp="1"/>
          </p:cNvSpPr>
          <p:nvPr/>
        </p:nvSpPr>
        <p:spPr>
          <a:xfrm>
            <a:off x="572620" y="407894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4F7F8"/>
                </a:solidFill>
              </a:defRPr>
            </a:pPr>
            <a:r>
              <a:rPr sz="2850" b="1">
                <a:solidFill>
                  <a:srgbClr val="F4F7F8"/>
                </a:solidFill>
              </a:rPr>
              <a:t>两个案例，覆盖从需求研究到本地执行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A2068B64-9B0E-4248-A5E4-C17352AB5DDF}"/>
              </a:ext>
            </a:extLst>
          </p:cNvPr>
          <p:cNvSpPr>
            <a:spLocks noGrp="1"/>
          </p:cNvSpPr>
          <p:nvPr/>
        </p:nvSpPr>
        <p:spPr>
          <a:xfrm>
            <a:off x="591670" y="922244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5A0AA"/>
                </a:solidFill>
              </a:defRPr>
            </a:pPr>
            <a:r>
              <a:rPr sz="1350" b="0" dirty="0" err="1" smtClean="0">
                <a:solidFill>
                  <a:srgbClr val="95A0AA"/>
                </a:solidFill>
              </a:rPr>
              <a:t>澄清问题</a:t>
            </a:r>
            <a:r>
              <a:rPr sz="1350" b="0" dirty="0" err="1">
                <a:solidFill>
                  <a:srgbClr val="95A0AA"/>
                </a:solidFill>
              </a:rPr>
              <a:t>、结构化规则、连接生产工具</a:t>
            </a:r>
            <a:r>
              <a:rPr sz="1350" b="0" dirty="0" err="1" smtClean="0">
                <a:solidFill>
                  <a:srgbClr val="95A0AA"/>
                </a:solidFill>
              </a:rPr>
              <a:t>、结果可审核</a:t>
            </a:r>
            <a:endParaRPr sz="1350" b="0" dirty="0">
              <a:solidFill>
                <a:srgbClr val="95A0AA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6E55002F-1275-406F-8051-52AC377FBC02}"/>
              </a:ext>
            </a:extLst>
          </p:cNvPr>
          <p:cNvSpPr>
            <a:spLocks noGrp="1"/>
          </p:cNvSpPr>
          <p:nvPr/>
        </p:nvSpPr>
        <p:spPr>
          <a:xfrm>
            <a:off x="572620" y="1322294"/>
            <a:ext cx="11010900" cy="9525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8EBCF3BF-66BB-496E-AA9E-525AC790D436}"/>
              </a:ext>
            </a:extLst>
          </p:cNvPr>
          <p:cNvSpPr>
            <a:spLocks noGrp="1"/>
          </p:cNvSpPr>
          <p:nvPr/>
        </p:nvSpPr>
        <p:spPr>
          <a:xfrm>
            <a:off x="6078070" y="1722344"/>
            <a:ext cx="9525" cy="3810000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6653018B-2BE1-48C6-9B8B-D8016FBA4A9B}"/>
              </a:ext>
            </a:extLst>
          </p:cNvPr>
          <p:cNvSpPr>
            <a:spLocks noGrp="1"/>
          </p:cNvSpPr>
          <p:nvPr/>
        </p:nvSpPr>
        <p:spPr>
          <a:xfrm>
            <a:off x="610720" y="1684244"/>
            <a:ext cx="1143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B8FF00"/>
                </a:solidFill>
              </a:defRPr>
            </a:pPr>
            <a:r>
              <a:rPr sz="3600" b="1" dirty="0">
                <a:solidFill>
                  <a:srgbClr val="B8FF00"/>
                </a:solidFill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C14EABBA-6949-4009-9080-523F519C17F0}"/>
              </a:ext>
            </a:extLst>
          </p:cNvPr>
          <p:cNvSpPr>
            <a:spLocks noGrp="1"/>
          </p:cNvSpPr>
          <p:nvPr/>
        </p:nvSpPr>
        <p:spPr>
          <a:xfrm>
            <a:off x="1696570" y="1779494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4F7F8"/>
                </a:solidFill>
              </a:defRPr>
            </a:pPr>
            <a:r>
              <a:rPr sz="2100" b="1">
                <a:solidFill>
                  <a:srgbClr val="F4F7F8"/>
                </a:solidFill>
              </a:rPr>
              <a:t>游戏回流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D2F9D083-E572-486E-9250-B6DD975B6426}"/>
              </a:ext>
            </a:extLst>
          </p:cNvPr>
          <p:cNvSpPr>
            <a:spLocks noGrp="1"/>
          </p:cNvSpPr>
          <p:nvPr/>
        </p:nvSpPr>
        <p:spPr>
          <a:xfrm>
            <a:off x="629770" y="2503394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B8FF00"/>
                </a:solidFill>
              </a:defRPr>
            </a:pPr>
            <a:r>
              <a:rPr sz="1050" b="1">
                <a:solidFill>
                  <a:srgbClr val="B8FF00"/>
                </a:solidFill>
              </a:rPr>
              <a:t>解决的问题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0B9AE27D-D391-4F71-8D79-D6E005651332}"/>
              </a:ext>
            </a:extLst>
          </p:cNvPr>
          <p:cNvSpPr>
            <a:spLocks noGrp="1"/>
          </p:cNvSpPr>
          <p:nvPr/>
        </p:nvSpPr>
        <p:spPr>
          <a:xfrm>
            <a:off x="629770" y="2808194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4F7F8"/>
                </a:solidFill>
              </a:defRPr>
            </a:pPr>
            <a:r>
              <a:rPr sz="1425" b="0" dirty="0" err="1" smtClean="0">
                <a:solidFill>
                  <a:srgbClr val="F4F7F8"/>
                </a:solidFill>
              </a:rPr>
              <a:t>把“</a:t>
            </a:r>
            <a:r>
              <a:rPr sz="1425" b="0" dirty="0" err="1">
                <a:solidFill>
                  <a:srgbClr val="F4F7F8"/>
                </a:solidFill>
              </a:rPr>
              <a:t>一键批量生成回流素材</a:t>
            </a:r>
            <a:r>
              <a:rPr sz="1425" b="0" dirty="0" smtClean="0">
                <a:solidFill>
                  <a:srgbClr val="F4F7F8"/>
                </a:solidFill>
              </a:rPr>
              <a:t>”</a:t>
            </a:r>
            <a:r>
              <a:rPr lang="zh-CN" altLang="en-US" sz="1425" b="0" dirty="0" smtClean="0">
                <a:solidFill>
                  <a:srgbClr val="F4F7F8"/>
                </a:solidFill>
              </a:rPr>
              <a:t>的需求</a:t>
            </a:r>
            <a:r>
              <a:rPr sz="1425" b="0" dirty="0" err="1" smtClean="0">
                <a:solidFill>
                  <a:srgbClr val="F4F7F8"/>
                </a:solidFill>
              </a:rPr>
              <a:t>拆成可执行</a:t>
            </a:r>
            <a:r>
              <a:rPr lang="zh-CN" altLang="en-US" sz="1425" b="0" dirty="0" smtClean="0">
                <a:solidFill>
                  <a:srgbClr val="F4F7F8"/>
                </a:solidFill>
              </a:rPr>
              <a:t>、可复用、可扩展的工作流</a:t>
            </a:r>
            <a:r>
              <a:rPr sz="1425" b="0" dirty="0" smtClean="0">
                <a:solidFill>
                  <a:srgbClr val="F4F7F8"/>
                </a:solidFill>
              </a:rPr>
              <a:t>。</a:t>
            </a:r>
            <a:endParaRPr sz="1425" b="0" dirty="0">
              <a:solidFill>
                <a:srgbClr val="F4F7F8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6E28B292-6BC2-40AB-9433-38D5F9AE7A09}"/>
              </a:ext>
            </a:extLst>
          </p:cNvPr>
          <p:cNvSpPr>
            <a:spLocks noGrp="1"/>
          </p:cNvSpPr>
          <p:nvPr/>
        </p:nvSpPr>
        <p:spPr>
          <a:xfrm>
            <a:off x="629770" y="3722594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B8FF00"/>
                </a:solidFill>
              </a:defRPr>
            </a:pPr>
            <a:r>
              <a:rPr lang="zh-CN" altLang="en-US" sz="1050" b="1" dirty="0">
                <a:solidFill>
                  <a:srgbClr val="B8FF00"/>
                </a:solidFill>
              </a:rPr>
              <a:t>主要</a:t>
            </a:r>
            <a:r>
              <a:rPr sz="1050" b="1" dirty="0" err="1" smtClean="0">
                <a:solidFill>
                  <a:srgbClr val="B8FF00"/>
                </a:solidFill>
              </a:rPr>
              <a:t>负责</a:t>
            </a:r>
            <a:endParaRPr sz="1050" b="1" dirty="0">
              <a:solidFill>
                <a:srgbClr val="B8FF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7751A552-E172-43F2-AF65-9F2886882379}"/>
              </a:ext>
            </a:extLst>
          </p:cNvPr>
          <p:cNvSpPr>
            <a:spLocks noGrp="1"/>
          </p:cNvSpPr>
          <p:nvPr/>
        </p:nvSpPr>
        <p:spPr>
          <a:xfrm>
            <a:off x="629770" y="4027394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5A0AA"/>
                </a:solidFill>
              </a:defRPr>
            </a:pPr>
            <a:r>
              <a:rPr lang="zh-CN" altLang="en-US" sz="1350" dirty="0">
                <a:solidFill>
                  <a:srgbClr val="95A0AA"/>
                </a:solidFill>
              </a:rPr>
              <a:t>案例</a:t>
            </a:r>
            <a:r>
              <a:rPr sz="1350" b="0" dirty="0" err="1" smtClean="0">
                <a:solidFill>
                  <a:srgbClr val="95A0AA"/>
                </a:solidFill>
              </a:rPr>
              <a:t>采集与分析</a:t>
            </a:r>
            <a:r>
              <a:rPr sz="1350" b="0" dirty="0" err="1">
                <a:solidFill>
                  <a:srgbClr val="95A0AA"/>
                </a:solidFill>
              </a:rPr>
              <a:t>、提示词蒸馏、生成产品设计、</a:t>
            </a:r>
            <a:r>
              <a:rPr sz="1350" b="0" dirty="0" err="1" smtClean="0">
                <a:solidFill>
                  <a:srgbClr val="95A0AA"/>
                </a:solidFill>
              </a:rPr>
              <a:t>奖品合成算法与任务稳定性</a:t>
            </a:r>
            <a:r>
              <a:rPr sz="1350" b="0" dirty="0">
                <a:solidFill>
                  <a:srgbClr val="95A0AA"/>
                </a:solidFill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EC5B0329-BD80-409A-8394-3B0C7F8573D2}"/>
              </a:ext>
            </a:extLst>
          </p:cNvPr>
          <p:cNvSpPr>
            <a:spLocks noGrp="1"/>
          </p:cNvSpPr>
          <p:nvPr/>
        </p:nvSpPr>
        <p:spPr>
          <a:xfrm>
            <a:off x="6420970" y="1684244"/>
            <a:ext cx="1143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43D6E8"/>
                </a:solidFill>
              </a:defRPr>
            </a:pPr>
            <a:r>
              <a:rPr sz="3600" b="1">
                <a:solidFill>
                  <a:srgbClr val="43D6E8"/>
                </a:solidFill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95FD3FC0-19D4-4B9C-A40E-00376D7FC3E4}"/>
              </a:ext>
            </a:extLst>
          </p:cNvPr>
          <p:cNvSpPr>
            <a:spLocks noGrp="1"/>
          </p:cNvSpPr>
          <p:nvPr/>
        </p:nvSpPr>
        <p:spPr>
          <a:xfrm>
            <a:off x="7506820" y="1779494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4F7F8"/>
                </a:solidFill>
              </a:defRPr>
            </a:pPr>
            <a:r>
              <a:rPr sz="2100" b="1">
                <a:solidFill>
                  <a:srgbClr val="F4F7F8"/>
                </a:solidFill>
              </a:rPr>
              <a:t>大屏渲染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7FEC95DE-1799-473A-855D-7EBF7DB3BB7D}"/>
              </a:ext>
            </a:extLst>
          </p:cNvPr>
          <p:cNvSpPr>
            <a:spLocks noGrp="1"/>
          </p:cNvSpPr>
          <p:nvPr/>
        </p:nvSpPr>
        <p:spPr>
          <a:xfrm>
            <a:off x="6440020" y="2503394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3D6E8"/>
                </a:solidFill>
              </a:defRPr>
            </a:pPr>
            <a:r>
              <a:rPr sz="1050" b="1">
                <a:solidFill>
                  <a:srgbClr val="43D6E8"/>
                </a:solidFill>
              </a:rPr>
              <a:t>解决的问题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70792011-87F6-4E52-B890-69741747B59E}"/>
              </a:ext>
            </a:extLst>
          </p:cNvPr>
          <p:cNvSpPr>
            <a:spLocks noGrp="1"/>
          </p:cNvSpPr>
          <p:nvPr/>
        </p:nvSpPr>
        <p:spPr>
          <a:xfrm>
            <a:off x="6440020" y="2808194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4F7F8"/>
                </a:solidFill>
              </a:defRPr>
            </a:pPr>
            <a:r>
              <a:rPr sz="1425" b="0" dirty="0" err="1">
                <a:solidFill>
                  <a:srgbClr val="F4F7F8"/>
                </a:solidFill>
              </a:rPr>
              <a:t>让网页直接调用本地渲染机，自动解析</a:t>
            </a:r>
            <a:r>
              <a:rPr sz="1425" b="0" dirty="0">
                <a:solidFill>
                  <a:srgbClr val="F4F7F8"/>
                </a:solidFill>
              </a:rPr>
              <a:t> </a:t>
            </a:r>
            <a:r>
              <a:rPr sz="1425" b="0" dirty="0" err="1">
                <a:solidFill>
                  <a:srgbClr val="F4F7F8"/>
                </a:solidFill>
              </a:rPr>
              <a:t>AEP、</a:t>
            </a:r>
            <a:r>
              <a:rPr sz="1425" b="0" dirty="0" err="1" smtClean="0">
                <a:solidFill>
                  <a:srgbClr val="F4F7F8"/>
                </a:solidFill>
              </a:rPr>
              <a:t>替换素材并回传成片</a:t>
            </a:r>
            <a:r>
              <a:rPr lang="zh-CN" altLang="en-US" sz="1425" b="0" dirty="0" smtClean="0">
                <a:solidFill>
                  <a:srgbClr val="F4F7F8"/>
                </a:solidFill>
              </a:rPr>
              <a:t>，降低重复劳动</a:t>
            </a:r>
            <a:r>
              <a:rPr sz="1425" b="0" dirty="0" smtClean="0">
                <a:solidFill>
                  <a:srgbClr val="F4F7F8"/>
                </a:solidFill>
              </a:rPr>
              <a:t>。</a:t>
            </a:r>
            <a:endParaRPr sz="1425" b="0" dirty="0">
              <a:solidFill>
                <a:srgbClr val="F4F7F8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CAACAA2B-0E9E-45EB-BF29-9BD52BFAE4AB}"/>
              </a:ext>
            </a:extLst>
          </p:cNvPr>
          <p:cNvSpPr>
            <a:spLocks noGrp="1"/>
          </p:cNvSpPr>
          <p:nvPr/>
        </p:nvSpPr>
        <p:spPr>
          <a:xfrm>
            <a:off x="6440020" y="3722594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3D6E8"/>
                </a:solidFill>
              </a:defRPr>
            </a:pPr>
            <a:r>
              <a:rPr lang="zh-CN" altLang="en-US" sz="1050" b="1" dirty="0">
                <a:solidFill>
                  <a:srgbClr val="43D6E8"/>
                </a:solidFill>
              </a:rPr>
              <a:t>主要</a:t>
            </a:r>
            <a:r>
              <a:rPr sz="1050" b="1" dirty="0" err="1" smtClean="0">
                <a:solidFill>
                  <a:srgbClr val="43D6E8"/>
                </a:solidFill>
              </a:rPr>
              <a:t>负责</a:t>
            </a:r>
            <a:endParaRPr sz="1050" b="1" dirty="0">
              <a:solidFill>
                <a:srgbClr val="43D6E8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D858AE20-AE3A-4669-B738-8EC480CB0CD9}"/>
              </a:ext>
            </a:extLst>
          </p:cNvPr>
          <p:cNvSpPr>
            <a:spLocks noGrp="1"/>
          </p:cNvSpPr>
          <p:nvPr/>
        </p:nvSpPr>
        <p:spPr>
          <a:xfrm>
            <a:off x="6440020" y="4027394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5A0AA"/>
                </a:solidFill>
              </a:defRPr>
            </a:pPr>
            <a:r>
              <a:rPr sz="1350" b="0" dirty="0" err="1">
                <a:solidFill>
                  <a:srgbClr val="95A0AA"/>
                </a:solidFill>
              </a:rPr>
              <a:t>平台调度、本地节点、AEP</a:t>
            </a:r>
            <a:r>
              <a:rPr sz="1350" b="0" dirty="0">
                <a:solidFill>
                  <a:srgbClr val="95A0AA"/>
                </a:solidFill>
              </a:rPr>
              <a:t> </a:t>
            </a:r>
            <a:r>
              <a:rPr lang="zh-CN" altLang="en-US" sz="1350" dirty="0">
                <a:solidFill>
                  <a:srgbClr val="95A0AA"/>
                </a:solidFill>
              </a:rPr>
              <a:t>解析</a:t>
            </a:r>
            <a:r>
              <a:rPr sz="1350" b="0" dirty="0" smtClean="0">
                <a:solidFill>
                  <a:srgbClr val="95A0AA"/>
                </a:solidFill>
              </a:rPr>
              <a:t>、</a:t>
            </a:r>
            <a:r>
              <a:rPr lang="zh-CN" altLang="en-US" sz="1350" dirty="0" smtClean="0">
                <a:solidFill>
                  <a:srgbClr val="95A0AA"/>
                </a:solidFill>
              </a:rPr>
              <a:t>素材智能替换</a:t>
            </a:r>
            <a:r>
              <a:rPr sz="1350" b="0" dirty="0" smtClean="0">
                <a:solidFill>
                  <a:srgbClr val="95A0AA"/>
                </a:solidFill>
              </a:rPr>
              <a:t>、AE </a:t>
            </a:r>
            <a:r>
              <a:rPr sz="1350" b="0" dirty="0" err="1" smtClean="0">
                <a:solidFill>
                  <a:srgbClr val="95A0AA"/>
                </a:solidFill>
              </a:rPr>
              <a:t>自动渲染插件</a:t>
            </a:r>
            <a:r>
              <a:rPr sz="1350" b="0" dirty="0">
                <a:solidFill>
                  <a:srgbClr val="95A0AA"/>
                </a:solidFill>
              </a:rPr>
              <a:t>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0983D2DB-8454-4661-A9D9-E24190C0B0DB}"/>
              </a:ext>
            </a:extLst>
          </p:cNvPr>
          <p:cNvSpPr>
            <a:spLocks noGrp="1"/>
          </p:cNvSpPr>
          <p:nvPr/>
        </p:nvSpPr>
        <p:spPr>
          <a:xfrm>
            <a:off x="629770" y="5665694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4F7F8"/>
                </a:solidFill>
              </a:defRPr>
            </a:pPr>
            <a:r>
              <a:rPr sz="1575" b="1">
                <a:solidFill>
                  <a:srgbClr val="F4F7F8"/>
                </a:solidFill>
              </a:rPr>
              <a:t>最终交付的不是单个模型，而是一条可被生产团队反复使用的工作流。</a:t>
            </a:r>
          </a:p>
        </p:txBody>
      </p:sp>
    </p:spTree>
    <p:extLst>
      <p:ext uri="{BB962C8B-B14F-4D97-AF65-F5344CB8AC3E}">
        <p14:creationId xmlns:p14="http://schemas.microsoft.com/office/powerpoint/2010/main" val="391008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6653018B-2BE1-48C6-9B8B-D8016FBA4A9B}"/>
              </a:ext>
            </a:extLst>
          </p:cNvPr>
          <p:cNvSpPr>
            <a:spLocks noGrp="1"/>
          </p:cNvSpPr>
          <p:nvPr/>
        </p:nvSpPr>
        <p:spPr>
          <a:xfrm>
            <a:off x="4375897" y="2930338"/>
            <a:ext cx="335167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B8FF00"/>
                </a:solidFill>
              </a:defRPr>
            </a:pPr>
            <a:r>
              <a:rPr lang="en-US" sz="3600" b="1" dirty="0" smtClean="0">
                <a:solidFill>
                  <a:srgbClr val="B8FF00"/>
                </a:solidFill>
              </a:rPr>
              <a:t>CASE1 </a:t>
            </a:r>
            <a:r>
              <a:rPr lang="zh-CN" altLang="en-US" sz="3600" b="1" dirty="0" smtClean="0">
                <a:solidFill>
                  <a:srgbClr val="B8FF00"/>
                </a:solidFill>
              </a:rPr>
              <a:t>游戏回流</a:t>
            </a:r>
            <a:endParaRPr sz="3600" b="1" dirty="0">
              <a:solidFill>
                <a:srgbClr val="B8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879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DA18F22B-15DD-4A24-9931-6F46D8D5E589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8FF00"/>
                </a:solidFill>
              </a:defRPr>
            </a:pPr>
            <a:r>
              <a:rPr sz="975" b="1" dirty="0">
                <a:solidFill>
                  <a:srgbClr val="B8FF00"/>
                </a:solidFill>
              </a:rPr>
              <a:t>CASE </a:t>
            </a:r>
            <a:r>
              <a:rPr sz="975" b="1" dirty="0" smtClean="0">
                <a:solidFill>
                  <a:srgbClr val="B8FF00"/>
                </a:solidFill>
              </a:rPr>
              <a:t>01</a:t>
            </a:r>
            <a:endParaRPr sz="975" b="1" dirty="0">
              <a:solidFill>
                <a:srgbClr val="B8FF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066D42DB-5957-4799-8158-84ED1239D1E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4F7F8"/>
                </a:solidFill>
              </a:defRPr>
            </a:pPr>
            <a:r>
              <a:rPr sz="2850" b="1" dirty="0" err="1" smtClean="0">
                <a:solidFill>
                  <a:srgbClr val="F4F7F8"/>
                </a:solidFill>
              </a:rPr>
              <a:t>什么是好素材</a:t>
            </a:r>
            <a:endParaRPr sz="2850" b="1" dirty="0">
              <a:solidFill>
                <a:srgbClr val="F4F7F8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581BDBFD-E92C-4C24-AF1C-C0AA4AD02DDA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5A0AA"/>
                </a:solidFill>
              </a:defRPr>
            </a:pPr>
            <a:r>
              <a:rPr sz="1350" b="0" dirty="0">
                <a:solidFill>
                  <a:srgbClr val="95A0AA"/>
                </a:solidFill>
              </a:rPr>
              <a:t>需求只有渠道规范与一句“</a:t>
            </a:r>
            <a:r>
              <a:rPr sz="1350" b="0" dirty="0" err="1">
                <a:solidFill>
                  <a:srgbClr val="95A0AA"/>
                </a:solidFill>
              </a:rPr>
              <a:t>一键批量生成</a:t>
            </a:r>
            <a:r>
              <a:rPr sz="1350" b="0" dirty="0">
                <a:solidFill>
                  <a:srgbClr val="95A0AA"/>
                </a:solidFill>
              </a:rPr>
              <a:t>”，</a:t>
            </a:r>
            <a:r>
              <a:rPr sz="1350" b="0" dirty="0" err="1">
                <a:solidFill>
                  <a:srgbClr val="95A0AA"/>
                </a:solidFill>
              </a:rPr>
              <a:t>第一步是建立真实案例坐标系</a:t>
            </a:r>
            <a:endParaRPr sz="1350" b="0" dirty="0">
              <a:solidFill>
                <a:srgbClr val="95A0AA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240A54F-1CD3-4842-8E86-EFDF64D60518}"/>
              </a:ext>
            </a:extLst>
          </p:cNvPr>
          <p:cNvSpPr>
            <a:spLocks noGrp="1"/>
          </p:cNvSpPr>
          <p:nvPr/>
        </p:nvSpPr>
        <p:spPr>
          <a:xfrm>
            <a:off x="590550" y="1600200"/>
            <a:ext cx="11010900" cy="9525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A8A6FDD5-3E5F-41CC-AAE1-41CCEF914C4D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B8FF00"/>
                </a:solidFill>
              </a:defRPr>
            </a:pPr>
            <a:r>
              <a:rPr sz="3900" b="1">
                <a:solidFill>
                  <a:srgbClr val="B8FF00"/>
                </a:solidFill>
              </a:rPr>
              <a:t>150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C34F9BE4-7818-47CD-BF3F-C39D9E3D761A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sz="1500" b="1">
                <a:solidFill>
                  <a:srgbClr val="F4F7F8"/>
                </a:solidFill>
              </a:rPr>
              <a:t>条优质回流素材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ABE47B26-22A2-4038-866A-0EF0138C3A2B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95A0AA"/>
                </a:solidFill>
              </a:defRPr>
            </a:pPr>
            <a:r>
              <a:rPr sz="1200" b="0" dirty="0" err="1">
                <a:solidFill>
                  <a:srgbClr val="95A0AA"/>
                </a:solidFill>
              </a:rPr>
              <a:t>ADXRay</a:t>
            </a:r>
            <a:r>
              <a:rPr sz="1200" b="0" dirty="0">
                <a:solidFill>
                  <a:srgbClr val="95A0AA"/>
                </a:solidFill>
              </a:rPr>
              <a:t> </a:t>
            </a:r>
            <a:r>
              <a:rPr lang="zh-CN" altLang="en-US" sz="1200" dirty="0">
                <a:solidFill>
                  <a:srgbClr val="95A0AA"/>
                </a:solidFill>
              </a:rPr>
              <a:t>优质</a:t>
            </a:r>
            <a:r>
              <a:rPr sz="1200" b="0" dirty="0" err="1" smtClean="0">
                <a:solidFill>
                  <a:srgbClr val="95A0AA"/>
                </a:solidFill>
              </a:rPr>
              <a:t>样本</a:t>
            </a:r>
            <a:r>
              <a:rPr sz="1200" b="0" dirty="0" err="1">
                <a:solidFill>
                  <a:srgbClr val="95A0AA"/>
                </a:solidFill>
              </a:rPr>
              <a:t>，覆盖不同构图、利益点和回流情境</a:t>
            </a:r>
            <a:r>
              <a:rPr sz="1200" b="0" dirty="0">
                <a:solidFill>
                  <a:srgbClr val="95A0AA"/>
                </a:solidFill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0AD5E656-E8D9-40E2-9CC6-ADC325311FF8}"/>
              </a:ext>
            </a:extLst>
          </p:cNvPr>
          <p:cNvSpPr>
            <a:spLocks noGrp="1"/>
          </p:cNvSpPr>
          <p:nvPr/>
        </p:nvSpPr>
        <p:spPr>
          <a:xfrm>
            <a:off x="3657600" y="17145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43D6E8"/>
                </a:solidFill>
              </a:defRPr>
            </a:pPr>
            <a:r>
              <a:rPr lang="en-US" sz="3900" b="1" dirty="0">
                <a:solidFill>
                  <a:srgbClr val="43D6E8"/>
                </a:solidFill>
              </a:rPr>
              <a:t>5</a:t>
            </a:r>
            <a:endParaRPr sz="3900" b="1" dirty="0">
              <a:solidFill>
                <a:srgbClr val="43D6E8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7C90F17D-93AC-4464-9AE9-473D2827F040}"/>
              </a:ext>
            </a:extLst>
          </p:cNvPr>
          <p:cNvSpPr>
            <a:spLocks noGrp="1"/>
          </p:cNvSpPr>
          <p:nvPr/>
        </p:nvSpPr>
        <p:spPr>
          <a:xfrm>
            <a:off x="3657600" y="2438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sz="1500" b="1">
                <a:solidFill>
                  <a:srgbClr val="F4F7F8"/>
                </a:solidFill>
              </a:rPr>
              <a:t>类游戏创意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BF7F788-D901-4200-98D6-1517256535E9}"/>
              </a:ext>
            </a:extLst>
          </p:cNvPr>
          <p:cNvSpPr>
            <a:spLocks noGrp="1"/>
          </p:cNvSpPr>
          <p:nvPr/>
        </p:nvSpPr>
        <p:spPr>
          <a:xfrm>
            <a:off x="3657600" y="276225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95A0AA"/>
                </a:solidFill>
              </a:defRPr>
            </a:pPr>
            <a:r>
              <a:rPr sz="1200" b="0">
                <a:solidFill>
                  <a:srgbClr val="95A0AA"/>
                </a:solidFill>
              </a:rPr>
              <a:t>按品类区分角色表现、视觉风格与可复用的叙事套路。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87CEECE7-7D76-44D8-96D1-B177564084AF}"/>
              </a:ext>
            </a:extLst>
          </p:cNvPr>
          <p:cNvSpPr>
            <a:spLocks noGrp="1"/>
          </p:cNvSpPr>
          <p:nvPr/>
        </p:nvSpPr>
        <p:spPr>
          <a:xfrm>
            <a:off x="6381750" y="1962150"/>
            <a:ext cx="9525" cy="3905250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19E7A403-8D40-48C1-9DBE-BA8C68C866B0}"/>
              </a:ext>
            </a:extLst>
          </p:cNvPr>
          <p:cNvSpPr>
            <a:spLocks noGrp="1"/>
          </p:cNvSpPr>
          <p:nvPr/>
        </p:nvSpPr>
        <p:spPr>
          <a:xfrm>
            <a:off x="6898341" y="26003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B8FF00"/>
                </a:solidFill>
              </a:defRPr>
            </a:pPr>
            <a:r>
              <a:rPr sz="1125" b="1" dirty="0">
                <a:solidFill>
                  <a:srgbClr val="B8FF00"/>
                </a:solidFill>
              </a:rPr>
              <a:t>01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FDEDB84D-7BC3-4EE5-9E74-B1DADE7252D6}"/>
              </a:ext>
            </a:extLst>
          </p:cNvPr>
          <p:cNvSpPr>
            <a:spLocks noGrp="1"/>
          </p:cNvSpPr>
          <p:nvPr/>
        </p:nvSpPr>
        <p:spPr>
          <a:xfrm>
            <a:off x="7374591" y="25812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lang="zh-CN" altLang="en-US" sz="1500" b="1" dirty="0" smtClean="0">
                <a:solidFill>
                  <a:srgbClr val="F4F7F8"/>
                </a:solidFill>
              </a:rPr>
              <a:t>案例收集</a:t>
            </a:r>
            <a:endParaRPr sz="1500" b="1" dirty="0">
              <a:solidFill>
                <a:srgbClr val="F4F7F8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D622463E-07D3-439B-87AE-F7F46434DBAA}"/>
              </a:ext>
            </a:extLst>
          </p:cNvPr>
          <p:cNvSpPr>
            <a:spLocks noGrp="1"/>
          </p:cNvSpPr>
          <p:nvPr/>
        </p:nvSpPr>
        <p:spPr>
          <a:xfrm>
            <a:off x="7374591" y="2905125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95A0AA"/>
                </a:solidFill>
              </a:defRPr>
            </a:pPr>
            <a:r>
              <a:rPr lang="zh-CN" altLang="en-US" sz="1200" dirty="0" smtClean="0">
                <a:solidFill>
                  <a:srgbClr val="95A0AA"/>
                </a:solidFill>
              </a:rPr>
              <a:t>定位 </a:t>
            </a:r>
            <a:r>
              <a:rPr lang="en-US" altLang="zh-CN" sz="1200" dirty="0" err="1" smtClean="0">
                <a:solidFill>
                  <a:srgbClr val="95A0AA"/>
                </a:solidFill>
              </a:rPr>
              <a:t>ADXRay</a:t>
            </a:r>
            <a:r>
              <a:rPr lang="en-US" altLang="zh-CN" sz="1200" dirty="0" smtClean="0">
                <a:solidFill>
                  <a:srgbClr val="95A0AA"/>
                </a:solidFill>
              </a:rPr>
              <a:t> </a:t>
            </a:r>
            <a:r>
              <a:rPr lang="zh-CN" altLang="en-US" sz="1200" dirty="0" smtClean="0">
                <a:solidFill>
                  <a:srgbClr val="95A0AA"/>
                </a:solidFill>
              </a:rPr>
              <a:t>优质买量广告案例，通过爬虫脚本进行收集。</a:t>
            </a:r>
            <a:endParaRPr sz="1200" b="0" dirty="0">
              <a:solidFill>
                <a:srgbClr val="95A0AA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B22EFA2E-BA43-4D94-83AA-9DADE3FBB4AA}"/>
              </a:ext>
            </a:extLst>
          </p:cNvPr>
          <p:cNvSpPr>
            <a:spLocks noGrp="1"/>
          </p:cNvSpPr>
          <p:nvPr/>
        </p:nvSpPr>
        <p:spPr>
          <a:xfrm>
            <a:off x="6898341" y="34575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B8FF00"/>
                </a:solidFill>
              </a:defRPr>
            </a:pPr>
            <a:r>
              <a:rPr sz="1125" b="1">
                <a:solidFill>
                  <a:srgbClr val="B8FF00"/>
                </a:solidFill>
              </a:rPr>
              <a:t>02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BE26C1E3-B5D5-4D15-B29F-0FB742FD675B}"/>
              </a:ext>
            </a:extLst>
          </p:cNvPr>
          <p:cNvSpPr>
            <a:spLocks noGrp="1"/>
          </p:cNvSpPr>
          <p:nvPr/>
        </p:nvSpPr>
        <p:spPr>
          <a:xfrm>
            <a:off x="7374591" y="343852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endParaRPr sz="1500" b="1" dirty="0">
              <a:solidFill>
                <a:srgbClr val="F4F7F8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6A579B6C-DC73-44C5-A5A4-741DFE49B4D5}"/>
              </a:ext>
            </a:extLst>
          </p:cNvPr>
          <p:cNvSpPr>
            <a:spLocks noGrp="1"/>
          </p:cNvSpPr>
          <p:nvPr/>
        </p:nvSpPr>
        <p:spPr>
          <a:xfrm>
            <a:off x="7374591" y="3762375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95A0AA"/>
                </a:solidFill>
              </a:defRPr>
            </a:pPr>
            <a:r>
              <a:rPr sz="1200" b="0" dirty="0" err="1">
                <a:solidFill>
                  <a:srgbClr val="95A0AA"/>
                </a:solidFill>
              </a:rPr>
              <a:t>新玩法、老玩家福利、情怀、紧迫感与社交关系</a:t>
            </a:r>
            <a:r>
              <a:rPr sz="1200" b="0" dirty="0">
                <a:solidFill>
                  <a:srgbClr val="95A0AA"/>
                </a:solidFill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C13813C4-7F2C-4398-BA77-944A48314170}"/>
              </a:ext>
            </a:extLst>
          </p:cNvPr>
          <p:cNvSpPr>
            <a:spLocks noGrp="1"/>
          </p:cNvSpPr>
          <p:nvPr/>
        </p:nvSpPr>
        <p:spPr>
          <a:xfrm>
            <a:off x="6898341" y="43148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B8FF00"/>
                </a:solidFill>
              </a:defRPr>
            </a:pPr>
            <a:r>
              <a:rPr sz="1125" b="1" dirty="0">
                <a:solidFill>
                  <a:srgbClr val="B8FF00"/>
                </a:solidFill>
              </a:rPr>
              <a:t>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2DE8FA2A-7F49-4D2E-BC3B-00945B40A001}"/>
              </a:ext>
            </a:extLst>
          </p:cNvPr>
          <p:cNvSpPr>
            <a:spLocks noGrp="1"/>
          </p:cNvSpPr>
          <p:nvPr/>
        </p:nvSpPr>
        <p:spPr>
          <a:xfrm>
            <a:off x="7374591" y="42957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lang="zh-CN" altLang="en-US" sz="1500" b="1" dirty="0">
                <a:solidFill>
                  <a:srgbClr val="F4F7F8"/>
                </a:solidFill>
              </a:rPr>
              <a:t>提示</a:t>
            </a:r>
            <a:r>
              <a:rPr lang="zh-CN" altLang="en-US" sz="1500" b="1" dirty="0" smtClean="0">
                <a:solidFill>
                  <a:srgbClr val="F4F7F8"/>
                </a:solidFill>
              </a:rPr>
              <a:t>词模板</a:t>
            </a:r>
            <a:endParaRPr sz="1500" b="1" dirty="0">
              <a:solidFill>
                <a:srgbClr val="F4F7F8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4AEA4280-81F0-4340-ADCB-B9E27BD909EF}"/>
              </a:ext>
            </a:extLst>
          </p:cNvPr>
          <p:cNvSpPr>
            <a:spLocks noGrp="1"/>
          </p:cNvSpPr>
          <p:nvPr/>
        </p:nvSpPr>
        <p:spPr>
          <a:xfrm>
            <a:off x="7374591" y="4619625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95A0AA"/>
                </a:solidFill>
              </a:defRPr>
            </a:pPr>
            <a:r>
              <a:rPr lang="zh-CN" altLang="en-US" sz="1200" dirty="0">
                <a:solidFill>
                  <a:srgbClr val="95A0AA"/>
                </a:solidFill>
              </a:rPr>
              <a:t>把共性抽成提示词模块，把品类差异保留为可切换变量。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FDEDB84D-7BC3-4EE5-9E74-B1DADE7252D6}"/>
              </a:ext>
            </a:extLst>
          </p:cNvPr>
          <p:cNvSpPr>
            <a:spLocks noGrp="1"/>
          </p:cNvSpPr>
          <p:nvPr/>
        </p:nvSpPr>
        <p:spPr>
          <a:xfrm>
            <a:off x="7374591" y="343852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lang="zh-CN" altLang="en-US" sz="1500" b="1" dirty="0" smtClean="0">
                <a:solidFill>
                  <a:srgbClr val="F4F7F8"/>
                </a:solidFill>
              </a:rPr>
              <a:t>亮点分析</a:t>
            </a:r>
            <a:endParaRPr sz="1500" b="1" dirty="0">
              <a:solidFill>
                <a:srgbClr val="F4F7F8"/>
              </a:solidFill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="" xmlns:a16="http://schemas.microsoft.com/office/drawing/2014/main" id="{F5C33F44-9482-4A77-909F-45A2B6845D02}"/>
              </a:ext>
            </a:extLst>
          </p:cNvPr>
          <p:cNvSpPr>
            <a:spLocks noGrp="1"/>
          </p:cNvSpPr>
          <p:nvPr/>
        </p:nvSpPr>
        <p:spPr>
          <a:xfrm>
            <a:off x="634533" y="3257550"/>
            <a:ext cx="5493684" cy="2876830"/>
          </a:xfrm>
          <a:prstGeom prst="roundRect">
            <a:avLst>
              <a:gd name="adj" fmla="val 6186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22" y="3361204"/>
            <a:ext cx="5335528" cy="267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8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="" xmlns:a16="http://schemas.microsoft.com/office/drawing/2014/main" id="{75B089EF-199E-44CA-9FED-E12A3C62F074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8FF00"/>
                </a:solidFill>
              </a:defRPr>
            </a:pPr>
            <a:r>
              <a:rPr sz="975" b="1" dirty="0">
                <a:solidFill>
                  <a:srgbClr val="B8FF00"/>
                </a:solidFill>
              </a:rPr>
              <a:t>CASE </a:t>
            </a:r>
            <a:r>
              <a:rPr sz="975" b="1" dirty="0" smtClean="0">
                <a:solidFill>
                  <a:srgbClr val="B8FF00"/>
                </a:solidFill>
              </a:rPr>
              <a:t>01</a:t>
            </a:r>
            <a:endParaRPr sz="975" b="1" dirty="0">
              <a:solidFill>
                <a:srgbClr val="B8FF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BBAC32B6-F72F-4F39-A7AC-0CE0080FBEB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4F7F8"/>
                </a:solidFill>
              </a:defRPr>
            </a:pPr>
            <a:r>
              <a:rPr lang="zh-CN" altLang="en-US" sz="2850" b="1" dirty="0" smtClean="0">
                <a:solidFill>
                  <a:srgbClr val="F4F7F8"/>
                </a:solidFill>
              </a:rPr>
              <a:t>怎么生成我们的素材</a:t>
            </a:r>
            <a:endParaRPr sz="2850" b="1" dirty="0">
              <a:solidFill>
                <a:srgbClr val="F4F7F8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88930128-AA43-452B-8453-11D9EA796384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95A0AA"/>
                </a:solidFill>
              </a:defRPr>
            </a:pPr>
            <a:r>
              <a:rPr lang="zh-CN" altLang="en-US" sz="1350" dirty="0">
                <a:solidFill>
                  <a:srgbClr val="95A0AA"/>
                </a:solidFill>
              </a:rPr>
              <a:t>类型预设 </a:t>
            </a:r>
            <a:r>
              <a:rPr lang="en-US" altLang="zh-CN" sz="1350" dirty="0">
                <a:solidFill>
                  <a:srgbClr val="95A0AA"/>
                </a:solidFill>
              </a:rPr>
              <a:t>+ </a:t>
            </a:r>
            <a:r>
              <a:rPr lang="zh-CN" altLang="en-US" sz="1350" dirty="0">
                <a:solidFill>
                  <a:srgbClr val="95A0AA"/>
                </a:solidFill>
              </a:rPr>
              <a:t>场景模板 </a:t>
            </a:r>
            <a:r>
              <a:rPr lang="en-US" altLang="zh-CN" sz="1350" dirty="0">
                <a:solidFill>
                  <a:srgbClr val="95A0AA"/>
                </a:solidFill>
              </a:rPr>
              <a:t>+ </a:t>
            </a:r>
            <a:r>
              <a:rPr lang="zh-CN" altLang="en-US" sz="1350" dirty="0">
                <a:solidFill>
                  <a:srgbClr val="95A0AA"/>
                </a:solidFill>
              </a:rPr>
              <a:t>角色 </a:t>
            </a:r>
            <a:r>
              <a:rPr lang="en-US" altLang="zh-CN" sz="1350" dirty="0">
                <a:solidFill>
                  <a:srgbClr val="95A0AA"/>
                </a:solidFill>
              </a:rPr>
              <a:t>+ </a:t>
            </a:r>
            <a:r>
              <a:rPr lang="zh-CN" altLang="en-US" sz="1350" dirty="0">
                <a:solidFill>
                  <a:srgbClr val="95A0AA"/>
                </a:solidFill>
              </a:rPr>
              <a:t>文案 </a:t>
            </a:r>
            <a:r>
              <a:rPr lang="en-US" altLang="zh-CN" sz="1350" dirty="0">
                <a:solidFill>
                  <a:srgbClr val="95A0AA"/>
                </a:solidFill>
              </a:rPr>
              <a:t>+ </a:t>
            </a:r>
            <a:r>
              <a:rPr lang="zh-CN" altLang="en-US" sz="1350" dirty="0">
                <a:solidFill>
                  <a:srgbClr val="95A0AA"/>
                </a:solidFill>
              </a:rPr>
              <a:t>渠道骨架”动态拼装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F4A93391-4442-4C75-9A72-C761793F5BFB}"/>
              </a:ext>
            </a:extLst>
          </p:cNvPr>
          <p:cNvSpPr>
            <a:spLocks noGrp="1"/>
          </p:cNvSpPr>
          <p:nvPr/>
        </p:nvSpPr>
        <p:spPr>
          <a:xfrm>
            <a:off x="590550" y="1600200"/>
            <a:ext cx="11010900" cy="9525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21" name="圆角矩形 20">
            <a:extLst>
              <a:ext uri="{FF2B5EF4-FFF2-40B4-BE49-F238E27FC236}">
                <a16:creationId xmlns="" xmlns:a16="http://schemas.microsoft.com/office/drawing/2014/main" id="{F5C33F44-9482-4A77-909F-45A2B6845D02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572750" cy="1847850"/>
          </a:xfrm>
          <a:prstGeom prst="roundRect">
            <a:avLst>
              <a:gd name="adj" fmla="val 6186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D44D3641-015E-4C87-96ED-B0054B43A3D7}"/>
              </a:ext>
            </a:extLst>
          </p:cNvPr>
          <p:cNvSpPr>
            <a:spLocks noGrp="1"/>
          </p:cNvSpPr>
          <p:nvPr/>
        </p:nvSpPr>
        <p:spPr>
          <a:xfrm>
            <a:off x="1054473" y="20764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B8FF00"/>
                </a:solidFill>
              </a:defRPr>
            </a:pPr>
            <a:r>
              <a:rPr sz="1050" b="1">
                <a:solidFill>
                  <a:srgbClr val="B8FF00"/>
                </a:solidFill>
              </a:rPr>
              <a:t>一次生成任务的提示词结构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2472C12F-424A-40C7-B112-F8456DF98EAB}"/>
              </a:ext>
            </a:extLst>
          </p:cNvPr>
          <p:cNvSpPr>
            <a:spLocks noGrp="1"/>
          </p:cNvSpPr>
          <p:nvPr/>
        </p:nvSpPr>
        <p:spPr>
          <a:xfrm>
            <a:off x="1054473" y="2552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sz="1500" b="1">
                <a:solidFill>
                  <a:srgbClr val="F4F7F8"/>
                </a:solidFill>
              </a:rPr>
              <a:t>创意母版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DF80C3D4-B9E2-425C-BE5E-06C603BEFCA5}"/>
              </a:ext>
            </a:extLst>
          </p:cNvPr>
          <p:cNvSpPr>
            <a:spLocks noGrp="1"/>
          </p:cNvSpPr>
          <p:nvPr/>
        </p:nvSpPr>
        <p:spPr>
          <a:xfrm>
            <a:off x="1054473" y="291465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95A0AA"/>
                </a:solidFill>
              </a:defRPr>
            </a:pPr>
            <a:r>
              <a:rPr sz="1200" b="0">
                <a:solidFill>
                  <a:srgbClr val="95A0AA"/>
                </a:solidFill>
              </a:rPr>
              <a:t>角色关系 · 情境 · 利益点 · 构图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863007A8-7A9F-46C2-8E64-D367C6FDC7D1}"/>
              </a:ext>
            </a:extLst>
          </p:cNvPr>
          <p:cNvSpPr>
            <a:spLocks noGrp="1"/>
          </p:cNvSpPr>
          <p:nvPr/>
        </p:nvSpPr>
        <p:spPr>
          <a:xfrm>
            <a:off x="3645273" y="26670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8FF00"/>
                </a:solidFill>
              </a:defRPr>
            </a:pPr>
            <a:r>
              <a:rPr sz="1650" b="1">
                <a:solidFill>
                  <a:srgbClr val="B8FF00"/>
                </a:solidFill>
              </a:rPr>
              <a:t>+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E78B5F7A-7615-4D3E-9BD0-DF8D025F8995}"/>
              </a:ext>
            </a:extLst>
          </p:cNvPr>
          <p:cNvSpPr>
            <a:spLocks noGrp="1"/>
          </p:cNvSpPr>
          <p:nvPr/>
        </p:nvSpPr>
        <p:spPr>
          <a:xfrm>
            <a:off x="4396067" y="2568949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sz="1500" b="1" dirty="0" err="1">
                <a:solidFill>
                  <a:srgbClr val="F4F7F8"/>
                </a:solidFill>
              </a:rPr>
              <a:t>渠道约束</a:t>
            </a:r>
            <a:endParaRPr sz="1500" b="1" dirty="0">
              <a:solidFill>
                <a:srgbClr val="F4F7F8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D734589B-0A5F-44BB-8779-EBD3AB4D62E1}"/>
              </a:ext>
            </a:extLst>
          </p:cNvPr>
          <p:cNvSpPr>
            <a:spLocks noGrp="1"/>
          </p:cNvSpPr>
          <p:nvPr/>
        </p:nvSpPr>
        <p:spPr>
          <a:xfrm>
            <a:off x="4396067" y="2930899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95A0AA"/>
                </a:solidFill>
              </a:defRPr>
            </a:pPr>
            <a:r>
              <a:rPr sz="1200" b="0" dirty="0" err="1">
                <a:solidFill>
                  <a:srgbClr val="95A0AA"/>
                </a:solidFill>
              </a:rPr>
              <a:t>尺寸</a:t>
            </a:r>
            <a:r>
              <a:rPr sz="1200" b="0" dirty="0">
                <a:solidFill>
                  <a:srgbClr val="95A0AA"/>
                </a:solidFill>
              </a:rPr>
              <a:t> · </a:t>
            </a:r>
            <a:r>
              <a:rPr sz="1200" b="0" dirty="0" err="1">
                <a:solidFill>
                  <a:srgbClr val="95A0AA"/>
                </a:solidFill>
              </a:rPr>
              <a:t>安全区</a:t>
            </a:r>
            <a:r>
              <a:rPr sz="1200" b="0" dirty="0">
                <a:solidFill>
                  <a:srgbClr val="95A0AA"/>
                </a:solidFill>
              </a:rPr>
              <a:t> · </a:t>
            </a:r>
            <a:r>
              <a:rPr sz="1200" b="0" dirty="0" err="1">
                <a:solidFill>
                  <a:srgbClr val="95A0AA"/>
                </a:solidFill>
              </a:rPr>
              <a:t>文案长度</a:t>
            </a:r>
            <a:r>
              <a:rPr sz="1200" b="0" dirty="0">
                <a:solidFill>
                  <a:srgbClr val="95A0AA"/>
                </a:solidFill>
              </a:rPr>
              <a:t> · </a:t>
            </a:r>
            <a:r>
              <a:rPr sz="1200" b="0" dirty="0" err="1">
                <a:solidFill>
                  <a:srgbClr val="95A0AA"/>
                </a:solidFill>
              </a:rPr>
              <a:t>资源位骨架</a:t>
            </a:r>
            <a:endParaRPr sz="1200" b="0" dirty="0">
              <a:solidFill>
                <a:srgbClr val="95A0AA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54ED018A-7310-41D9-959F-F9A284A7CBC7}"/>
              </a:ext>
            </a:extLst>
          </p:cNvPr>
          <p:cNvSpPr>
            <a:spLocks noGrp="1"/>
          </p:cNvSpPr>
          <p:nvPr/>
        </p:nvSpPr>
        <p:spPr>
          <a:xfrm>
            <a:off x="7547161" y="268437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8FF00"/>
                </a:solidFill>
              </a:defRPr>
            </a:pPr>
            <a:r>
              <a:rPr sz="1650" b="1">
                <a:solidFill>
                  <a:srgbClr val="B8FF00"/>
                </a:solidFill>
              </a:rPr>
              <a:t>+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="" xmlns:a16="http://schemas.microsoft.com/office/drawing/2014/main" id="{E78B5F7A-7615-4D3E-9BD0-DF8D025F8995}"/>
              </a:ext>
            </a:extLst>
          </p:cNvPr>
          <p:cNvSpPr>
            <a:spLocks noGrp="1"/>
          </p:cNvSpPr>
          <p:nvPr/>
        </p:nvSpPr>
        <p:spPr>
          <a:xfrm>
            <a:off x="8124264" y="256054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lang="zh-CN" altLang="en-US" sz="1500" b="1" dirty="0">
                <a:solidFill>
                  <a:srgbClr val="F4F7F8"/>
                </a:solidFill>
              </a:rPr>
              <a:t>自定义</a:t>
            </a:r>
            <a:r>
              <a:rPr lang="zh-CN" altLang="en-US" sz="1500" b="1" dirty="0" smtClean="0">
                <a:solidFill>
                  <a:srgbClr val="F4F7F8"/>
                </a:solidFill>
              </a:rPr>
              <a:t>输入</a:t>
            </a:r>
            <a:endParaRPr sz="1500" b="1" dirty="0">
              <a:solidFill>
                <a:srgbClr val="F4F7F8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="" xmlns:a16="http://schemas.microsoft.com/office/drawing/2014/main" id="{D734589B-0A5F-44BB-8779-EBD3AB4D62E1}"/>
              </a:ext>
            </a:extLst>
          </p:cNvPr>
          <p:cNvSpPr>
            <a:spLocks noGrp="1"/>
          </p:cNvSpPr>
          <p:nvPr/>
        </p:nvSpPr>
        <p:spPr>
          <a:xfrm>
            <a:off x="8124264" y="293202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95A0AA"/>
                </a:solidFill>
              </a:defRPr>
            </a:pPr>
            <a:r>
              <a:rPr lang="zh-CN" altLang="en-US" sz="1200" dirty="0" smtClean="0">
                <a:solidFill>
                  <a:srgbClr val="95A0AA"/>
                </a:solidFill>
              </a:rPr>
              <a:t>角色资产库 </a:t>
            </a:r>
            <a:r>
              <a:rPr lang="en-US" altLang="zh-CN" sz="1200" dirty="0" smtClean="0">
                <a:solidFill>
                  <a:srgbClr val="95A0AA"/>
                </a:solidFill>
              </a:rPr>
              <a:t>· </a:t>
            </a:r>
            <a:r>
              <a:rPr lang="zh-CN" altLang="en-US" sz="1200" dirty="0" smtClean="0">
                <a:solidFill>
                  <a:srgbClr val="95A0AA"/>
                </a:solidFill>
              </a:rPr>
              <a:t>奖品图片 </a:t>
            </a:r>
            <a:r>
              <a:rPr lang="en-US" altLang="zh-CN" sz="1200" dirty="0" smtClean="0">
                <a:solidFill>
                  <a:srgbClr val="95A0AA"/>
                </a:solidFill>
              </a:rPr>
              <a:t>· </a:t>
            </a:r>
            <a:r>
              <a:rPr lang="zh-CN" altLang="en-US" sz="1200" dirty="0" smtClean="0">
                <a:solidFill>
                  <a:srgbClr val="95A0AA"/>
                </a:solidFill>
              </a:rPr>
              <a:t>文案</a:t>
            </a:r>
            <a:endParaRPr sz="1200" b="0" dirty="0">
              <a:solidFill>
                <a:srgbClr val="95A0AA"/>
              </a:solidFill>
            </a:endParaRPr>
          </a:p>
        </p:txBody>
      </p:sp>
      <p:sp>
        <p:nvSpPr>
          <p:cNvPr id="41" name="圆角矩形 40">
            <a:extLst>
              <a:ext uri="{FF2B5EF4-FFF2-40B4-BE49-F238E27FC236}">
                <a16:creationId xmlns="" xmlns:a16="http://schemas.microsoft.com/office/drawing/2014/main" id="{F5C33F44-9482-4A77-909F-45A2B6845D02}"/>
              </a:ext>
            </a:extLst>
          </p:cNvPr>
          <p:cNvSpPr>
            <a:spLocks noGrp="1"/>
          </p:cNvSpPr>
          <p:nvPr/>
        </p:nvSpPr>
        <p:spPr>
          <a:xfrm>
            <a:off x="590550" y="3918698"/>
            <a:ext cx="10552579" cy="2580153"/>
          </a:xfrm>
          <a:prstGeom prst="roundRect">
            <a:avLst>
              <a:gd name="adj" fmla="val 6186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035799"/>
            <a:ext cx="5318929" cy="2327952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170" y="4035799"/>
            <a:ext cx="4955242" cy="235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8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75B089EF-199E-44CA-9FED-E12A3C62F074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8FF00"/>
                </a:solidFill>
              </a:defRPr>
            </a:pPr>
            <a:r>
              <a:rPr sz="975" b="1" dirty="0">
                <a:solidFill>
                  <a:srgbClr val="B8FF00"/>
                </a:solidFill>
              </a:rPr>
              <a:t>CASE </a:t>
            </a:r>
            <a:r>
              <a:rPr sz="975" b="1" dirty="0" smtClean="0">
                <a:solidFill>
                  <a:srgbClr val="B8FF00"/>
                </a:solidFill>
              </a:rPr>
              <a:t>01</a:t>
            </a:r>
            <a:endParaRPr sz="975" b="1" dirty="0">
              <a:solidFill>
                <a:srgbClr val="B8FF00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="" xmlns:a16="http://schemas.microsoft.com/office/drawing/2014/main" id="{BBAC32B6-F72F-4F39-A7AC-0CE0080FBEB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4F7F8"/>
                </a:solidFill>
              </a:defRPr>
            </a:pPr>
            <a:r>
              <a:rPr lang="en-US" sz="2850" b="1" dirty="0" smtClean="0">
                <a:solidFill>
                  <a:srgbClr val="F4F7F8"/>
                </a:solidFill>
              </a:rPr>
              <a:t>Problem1: </a:t>
            </a:r>
            <a:r>
              <a:rPr lang="zh-CN" altLang="en-US" sz="2850" b="1" dirty="0" smtClean="0">
                <a:solidFill>
                  <a:srgbClr val="F4F7F8"/>
                </a:solidFill>
              </a:rPr>
              <a:t>场景模板有限，生成结果趋同</a:t>
            </a:r>
            <a:endParaRPr sz="2850" b="1" dirty="0">
              <a:solidFill>
                <a:srgbClr val="F4F7F8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="" xmlns:a16="http://schemas.microsoft.com/office/drawing/2014/main" id="{88930128-AA43-452B-8453-11D9EA796384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95A0AA"/>
                </a:solidFill>
              </a:defRPr>
            </a:pPr>
            <a:r>
              <a:rPr lang="zh-CN" altLang="en-US" sz="1350" dirty="0" smtClean="0"/>
              <a:t>当前已有六</a:t>
            </a:r>
            <a:r>
              <a:rPr lang="zh-CN" altLang="en-US" sz="1350" dirty="0"/>
              <a:t>种投放类型</a:t>
            </a:r>
            <a:r>
              <a:rPr lang="zh-CN" altLang="en-US" sz="1350" dirty="0" smtClean="0"/>
              <a:t>， </a:t>
            </a:r>
            <a:r>
              <a:rPr lang="en-US" altLang="zh-CN" sz="1350" dirty="0"/>
              <a:t>614 </a:t>
            </a:r>
            <a:r>
              <a:rPr lang="zh-CN" altLang="en-US" sz="1350" dirty="0"/>
              <a:t>条场景数据，但在连续</a:t>
            </a:r>
            <a:r>
              <a:rPr lang="zh-CN" altLang="en-US" sz="1350" dirty="0" smtClean="0"/>
              <a:t>执行任务</a:t>
            </a:r>
            <a:r>
              <a:rPr lang="zh-CN" altLang="en-US" sz="1350" dirty="0"/>
              <a:t>后，生成</a:t>
            </a:r>
            <a:r>
              <a:rPr lang="zh-CN" altLang="en-US" sz="1350" dirty="0" smtClean="0"/>
              <a:t>结果容易在风格</a:t>
            </a:r>
            <a:r>
              <a:rPr lang="zh-CN" altLang="en-US" sz="1350" dirty="0"/>
              <a:t>上</a:t>
            </a:r>
            <a:r>
              <a:rPr lang="zh-CN" altLang="en-US" sz="1350" dirty="0" smtClean="0"/>
              <a:t>趋同。为解决这个问题，一方面</a:t>
            </a:r>
            <a:r>
              <a:rPr lang="zh-CN" altLang="en-US" sz="1350" dirty="0"/>
              <a:t>新增基于参考 </a:t>
            </a:r>
            <a:r>
              <a:rPr lang="en-US" altLang="zh-CN" sz="1350" dirty="0"/>
              <a:t>KV </a:t>
            </a:r>
            <a:r>
              <a:rPr lang="zh-CN" altLang="en-US" sz="1350" dirty="0"/>
              <a:t>风格</a:t>
            </a:r>
            <a:r>
              <a:rPr lang="zh-CN" altLang="en-US" sz="1350" dirty="0" smtClean="0"/>
              <a:t>的生成</a:t>
            </a:r>
            <a:r>
              <a:rPr lang="zh-CN" altLang="en-US" sz="1350" dirty="0"/>
              <a:t>模式，使素材能够延续既有视觉风格并适配不同渠道；另一方面将回流生成链路封装为 </a:t>
            </a:r>
            <a:r>
              <a:rPr lang="en-US" altLang="zh-CN" sz="1350" dirty="0"/>
              <a:t>Skill</a:t>
            </a:r>
            <a:r>
              <a:rPr lang="zh-CN" altLang="en-US" sz="1350" dirty="0"/>
              <a:t>，由运营团队通过爬虫持续更新场景与生成策略，并同步产出配套使用</a:t>
            </a:r>
            <a:r>
              <a:rPr lang="zh-CN" altLang="en-US" sz="1350" dirty="0" smtClean="0"/>
              <a:t>教程</a:t>
            </a:r>
            <a:r>
              <a:rPr lang="zh-CN" altLang="en-US" sz="1350" dirty="0" smtClean="0">
                <a:solidFill>
                  <a:srgbClr val="95A0AA"/>
                </a:solidFill>
              </a:rPr>
              <a:t>。</a:t>
            </a:r>
            <a:endParaRPr lang="en-US" altLang="zh-CN" sz="1350" dirty="0" smtClean="0">
              <a:solidFill>
                <a:srgbClr val="95A0AA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="" xmlns:a16="http://schemas.microsoft.com/office/drawing/2014/main" id="{F4A93391-4442-4C75-9A72-C761793F5BFB}"/>
              </a:ext>
            </a:extLst>
          </p:cNvPr>
          <p:cNvSpPr>
            <a:spLocks noGrp="1"/>
          </p:cNvSpPr>
          <p:nvPr/>
        </p:nvSpPr>
        <p:spPr>
          <a:xfrm>
            <a:off x="516924" y="2119062"/>
            <a:ext cx="11010900" cy="9525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45" name="圆角矩形 44">
            <a:extLst>
              <a:ext uri="{FF2B5EF4-FFF2-40B4-BE49-F238E27FC236}">
                <a16:creationId xmlns="" xmlns:a16="http://schemas.microsoft.com/office/drawing/2014/main" id="{F5C33F44-9482-4A77-909F-45A2B6845D02}"/>
              </a:ext>
            </a:extLst>
          </p:cNvPr>
          <p:cNvSpPr>
            <a:spLocks noGrp="1"/>
          </p:cNvSpPr>
          <p:nvPr/>
        </p:nvSpPr>
        <p:spPr>
          <a:xfrm>
            <a:off x="461319" y="2233724"/>
            <a:ext cx="11345562" cy="3897527"/>
          </a:xfrm>
          <a:prstGeom prst="roundRect">
            <a:avLst>
              <a:gd name="adj" fmla="val 6186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2319799"/>
            <a:ext cx="2027822" cy="3725381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797" y="2319798"/>
            <a:ext cx="2497324" cy="3725381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550" y="2319798"/>
            <a:ext cx="6147914" cy="368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91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75B089EF-199E-44CA-9FED-E12A3C62F074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8FF00"/>
                </a:solidFill>
              </a:defRPr>
            </a:pPr>
            <a:r>
              <a:rPr sz="975" b="1" dirty="0">
                <a:solidFill>
                  <a:srgbClr val="B8FF00"/>
                </a:solidFill>
              </a:rPr>
              <a:t>CASE </a:t>
            </a:r>
            <a:r>
              <a:rPr sz="975" b="1" dirty="0" smtClean="0">
                <a:solidFill>
                  <a:srgbClr val="B8FF00"/>
                </a:solidFill>
              </a:rPr>
              <a:t>01</a:t>
            </a:r>
            <a:endParaRPr sz="975" b="1" dirty="0">
              <a:solidFill>
                <a:srgbClr val="B8FF00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="" xmlns:a16="http://schemas.microsoft.com/office/drawing/2014/main" id="{BBAC32B6-F72F-4F39-A7AC-0CE0080FBEB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4F7F8"/>
                </a:solidFill>
              </a:defRPr>
            </a:pPr>
            <a:r>
              <a:rPr lang="en-US" sz="2850" b="1" dirty="0" smtClean="0">
                <a:solidFill>
                  <a:srgbClr val="F4F7F8"/>
                </a:solidFill>
              </a:rPr>
              <a:t>Problem2: </a:t>
            </a:r>
            <a:r>
              <a:rPr lang="zh-CN" altLang="en-US" sz="2850" b="1" dirty="0" smtClean="0">
                <a:solidFill>
                  <a:srgbClr val="F4F7F8"/>
                </a:solidFill>
              </a:rPr>
              <a:t>奖品图片如何避免 </a:t>
            </a:r>
            <a:r>
              <a:rPr lang="en-US" altLang="zh-CN" sz="2850" b="1" dirty="0" smtClean="0">
                <a:solidFill>
                  <a:srgbClr val="F4F7F8"/>
                </a:solidFill>
              </a:rPr>
              <a:t>AI </a:t>
            </a:r>
            <a:r>
              <a:rPr lang="zh-CN" altLang="en-US" sz="2850" b="1" dirty="0" smtClean="0">
                <a:solidFill>
                  <a:srgbClr val="F4F7F8"/>
                </a:solidFill>
              </a:rPr>
              <a:t>重绘</a:t>
            </a:r>
            <a:endParaRPr sz="2850" b="1" dirty="0">
              <a:solidFill>
                <a:srgbClr val="F4F7F8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="" xmlns:a16="http://schemas.microsoft.com/office/drawing/2014/main" id="{88930128-AA43-452B-8453-11D9EA796384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95A0AA"/>
                </a:solidFill>
              </a:defRPr>
            </a:pPr>
            <a:r>
              <a:rPr lang="zh-CN" altLang="en-US" sz="1350" dirty="0" smtClean="0">
                <a:solidFill>
                  <a:srgbClr val="95A0AA"/>
                </a:solidFill>
              </a:rPr>
              <a:t>部分弹窗广告需要包含奖品图片，直接将奖品图片作为参考图交予 </a:t>
            </a:r>
            <a:r>
              <a:rPr lang="en-US" altLang="zh-CN" sz="1350" dirty="0" smtClean="0">
                <a:solidFill>
                  <a:srgbClr val="95A0AA"/>
                </a:solidFill>
              </a:rPr>
              <a:t>AI </a:t>
            </a:r>
            <a:r>
              <a:rPr lang="zh-CN" altLang="en-US" sz="1350" dirty="0" smtClean="0">
                <a:solidFill>
                  <a:srgbClr val="95A0AA"/>
                </a:solidFill>
              </a:rPr>
              <a:t>模型生成存在重绘失真的问题。解决方案是，奖品图不参与图片生成，</a:t>
            </a:r>
            <a:r>
              <a:rPr lang="en-US" altLang="zh-CN" sz="1350" dirty="0" smtClean="0">
                <a:solidFill>
                  <a:srgbClr val="95A0AA"/>
                </a:solidFill>
              </a:rPr>
              <a:t>AI </a:t>
            </a:r>
            <a:r>
              <a:rPr lang="zh-CN" altLang="en-US" sz="1350" dirty="0" smtClean="0">
                <a:solidFill>
                  <a:srgbClr val="95A0AA"/>
                </a:solidFill>
              </a:rPr>
              <a:t>仅生成不包含奖品的空槽位，再由定位算法将奖品图合成。</a:t>
            </a:r>
            <a:endParaRPr lang="en-US" altLang="zh-CN" sz="1350" dirty="0" smtClean="0">
              <a:solidFill>
                <a:srgbClr val="95A0AA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="" xmlns:a16="http://schemas.microsoft.com/office/drawing/2014/main" id="{F4A93391-4442-4C75-9A72-C761793F5BFB}"/>
              </a:ext>
            </a:extLst>
          </p:cNvPr>
          <p:cNvSpPr>
            <a:spLocks noGrp="1"/>
          </p:cNvSpPr>
          <p:nvPr/>
        </p:nvSpPr>
        <p:spPr>
          <a:xfrm>
            <a:off x="461319" y="1864574"/>
            <a:ext cx="11010900" cy="9525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45" name="圆角矩形 44">
            <a:extLst>
              <a:ext uri="{FF2B5EF4-FFF2-40B4-BE49-F238E27FC236}">
                <a16:creationId xmlns="" xmlns:a16="http://schemas.microsoft.com/office/drawing/2014/main" id="{F5C33F44-9482-4A77-909F-45A2B6845D02}"/>
              </a:ext>
            </a:extLst>
          </p:cNvPr>
          <p:cNvSpPr>
            <a:spLocks noGrp="1"/>
          </p:cNvSpPr>
          <p:nvPr/>
        </p:nvSpPr>
        <p:spPr>
          <a:xfrm>
            <a:off x="371672" y="2038350"/>
            <a:ext cx="11237622" cy="4470026"/>
          </a:xfrm>
          <a:prstGeom prst="roundRect">
            <a:avLst>
              <a:gd name="adj" fmla="val 6186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31274"/>
            <a:ext cx="1337115" cy="424351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017" y="2394117"/>
            <a:ext cx="8886533" cy="381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6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75B089EF-199E-44CA-9FED-E12A3C62F074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8FF00"/>
                </a:solidFill>
              </a:defRPr>
            </a:pPr>
            <a:r>
              <a:rPr sz="975" b="1" dirty="0">
                <a:solidFill>
                  <a:srgbClr val="B8FF00"/>
                </a:solidFill>
              </a:rPr>
              <a:t>CASE </a:t>
            </a:r>
            <a:r>
              <a:rPr sz="975" b="1" dirty="0" smtClean="0">
                <a:solidFill>
                  <a:srgbClr val="B8FF00"/>
                </a:solidFill>
              </a:rPr>
              <a:t>01</a:t>
            </a:r>
            <a:endParaRPr sz="975" b="1" dirty="0">
              <a:solidFill>
                <a:srgbClr val="B8FF00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="" xmlns:a16="http://schemas.microsoft.com/office/drawing/2014/main" id="{BBAC32B6-F72F-4F39-A7AC-0CE0080FBEB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4F7F8"/>
                </a:solidFill>
              </a:defRPr>
            </a:pPr>
            <a:r>
              <a:rPr lang="en-US" sz="2850" b="1" dirty="0" smtClean="0">
                <a:solidFill>
                  <a:srgbClr val="F4F7F8"/>
                </a:solidFill>
              </a:rPr>
              <a:t>Problem3: </a:t>
            </a:r>
            <a:r>
              <a:rPr lang="zh-CN" altLang="en-US" sz="2850" b="1" dirty="0" smtClean="0">
                <a:solidFill>
                  <a:srgbClr val="F4F7F8"/>
                </a:solidFill>
              </a:rPr>
              <a:t>奖品算法计算量大拖慢任务</a:t>
            </a:r>
            <a:endParaRPr sz="2850" b="1" dirty="0">
              <a:solidFill>
                <a:srgbClr val="F4F7F8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="" xmlns:a16="http://schemas.microsoft.com/office/drawing/2014/main" id="{88930128-AA43-452B-8453-11D9EA796384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95A0AA"/>
                </a:solidFill>
              </a:defRPr>
            </a:pPr>
            <a:r>
              <a:rPr lang="en-US" altLang="zh-CN" sz="1350" dirty="0" err="1" smtClean="0">
                <a:solidFill>
                  <a:srgbClr val="95A0AA"/>
                </a:solidFill>
              </a:rPr>
              <a:t>FlowX</a:t>
            </a:r>
            <a:r>
              <a:rPr lang="en-US" altLang="zh-CN" sz="1350" dirty="0" smtClean="0">
                <a:solidFill>
                  <a:srgbClr val="95A0AA"/>
                </a:solidFill>
              </a:rPr>
              <a:t> </a:t>
            </a:r>
            <a:r>
              <a:rPr lang="zh-CN" altLang="en-US" sz="1350" dirty="0" smtClean="0">
                <a:solidFill>
                  <a:srgbClr val="95A0AA"/>
                </a:solidFill>
              </a:rPr>
              <a:t>服务器没有 </a:t>
            </a:r>
            <a:r>
              <a:rPr lang="en-US" altLang="zh-CN" sz="1350" dirty="0" smtClean="0">
                <a:solidFill>
                  <a:srgbClr val="95A0AA"/>
                </a:solidFill>
              </a:rPr>
              <a:t>GPU </a:t>
            </a:r>
            <a:r>
              <a:rPr lang="zh-CN" altLang="en-US" sz="1350" dirty="0" smtClean="0">
                <a:solidFill>
                  <a:srgbClr val="95A0AA"/>
                </a:solidFill>
              </a:rPr>
              <a:t>配置，纯 </a:t>
            </a:r>
            <a:r>
              <a:rPr lang="en-US" altLang="zh-CN" sz="1350" dirty="0" smtClean="0">
                <a:solidFill>
                  <a:srgbClr val="95A0AA"/>
                </a:solidFill>
              </a:rPr>
              <a:t>CPU </a:t>
            </a:r>
            <a:r>
              <a:rPr lang="zh-CN" altLang="en-US" sz="1350" dirty="0" smtClean="0">
                <a:solidFill>
                  <a:srgbClr val="95A0AA"/>
                </a:solidFill>
              </a:rPr>
              <a:t>运算逐像素算法单张图片处理耗时</a:t>
            </a:r>
            <a:r>
              <a:rPr lang="en-US" altLang="zh-CN" sz="1350" dirty="0" smtClean="0">
                <a:solidFill>
                  <a:srgbClr val="95A0AA"/>
                </a:solidFill>
              </a:rPr>
              <a:t>40s+</a:t>
            </a:r>
            <a:r>
              <a:rPr lang="zh-CN" altLang="en-US" sz="1350" dirty="0" smtClean="0">
                <a:solidFill>
                  <a:srgbClr val="95A0AA"/>
                </a:solidFill>
              </a:rPr>
              <a:t>。通过将复杂计算任务分配给计算节点（内网渲染机），大幅降低服务器负载，单张耗时减少至</a:t>
            </a:r>
            <a:r>
              <a:rPr lang="en-US" altLang="zh-CN" sz="1350" dirty="0" smtClean="0">
                <a:solidFill>
                  <a:srgbClr val="95A0AA"/>
                </a:solidFill>
              </a:rPr>
              <a:t>5s</a:t>
            </a:r>
            <a:r>
              <a:rPr lang="zh-CN" altLang="en-US" sz="1350" dirty="0" smtClean="0">
                <a:solidFill>
                  <a:srgbClr val="95A0AA"/>
                </a:solidFill>
              </a:rPr>
              <a:t>。</a:t>
            </a:r>
            <a:endParaRPr lang="en-US" altLang="zh-CN" sz="1350" dirty="0" smtClean="0">
              <a:solidFill>
                <a:srgbClr val="95A0AA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="" xmlns:a16="http://schemas.microsoft.com/office/drawing/2014/main" id="{F4A93391-4442-4C75-9A72-C761793F5BFB}"/>
              </a:ext>
            </a:extLst>
          </p:cNvPr>
          <p:cNvSpPr>
            <a:spLocks noGrp="1"/>
          </p:cNvSpPr>
          <p:nvPr/>
        </p:nvSpPr>
        <p:spPr>
          <a:xfrm>
            <a:off x="461319" y="1864574"/>
            <a:ext cx="11010900" cy="9525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="" xmlns:a16="http://schemas.microsoft.com/office/drawing/2014/main" id="{9E33232D-C996-4E31-A6D6-FCE8FA5063F7}"/>
              </a:ext>
            </a:extLst>
          </p:cNvPr>
          <p:cNvSpPr>
            <a:spLocks noGrp="1"/>
          </p:cNvSpPr>
          <p:nvPr/>
        </p:nvSpPr>
        <p:spPr>
          <a:xfrm>
            <a:off x="1639420" y="2128837"/>
            <a:ext cx="1924050" cy="1638300"/>
          </a:xfrm>
          <a:prstGeom prst="roundRect">
            <a:avLst>
              <a:gd name="adj" fmla="val 6977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F4B629AE-C636-4D3B-B58E-D54CF76BED4D}"/>
              </a:ext>
            </a:extLst>
          </p:cNvPr>
          <p:cNvSpPr>
            <a:spLocks noGrp="1"/>
          </p:cNvSpPr>
          <p:nvPr/>
        </p:nvSpPr>
        <p:spPr>
          <a:xfrm>
            <a:off x="1810870" y="2300287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B8FF00"/>
                </a:solidFill>
              </a:defRPr>
            </a:pPr>
            <a:r>
              <a:rPr sz="1050" b="1">
                <a:solidFill>
                  <a:srgbClr val="B8FF00"/>
                </a:solidFill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300D2E29-558E-4AEA-85DD-0530ABC0CE0B}"/>
              </a:ext>
            </a:extLst>
          </p:cNvPr>
          <p:cNvSpPr>
            <a:spLocks noGrp="1"/>
          </p:cNvSpPr>
          <p:nvPr/>
        </p:nvSpPr>
        <p:spPr>
          <a:xfrm>
            <a:off x="1810870" y="2681287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lang="en-US" sz="1500" b="1" dirty="0" smtClean="0">
                <a:solidFill>
                  <a:srgbClr val="F4F7F8"/>
                </a:solidFill>
              </a:rPr>
              <a:t>I</a:t>
            </a:r>
            <a:r>
              <a:rPr lang="en-US" altLang="zh-CN" sz="1500" b="1" dirty="0" smtClean="0">
                <a:solidFill>
                  <a:srgbClr val="F4F7F8"/>
                </a:solidFill>
              </a:rPr>
              <a:t>mge2 </a:t>
            </a:r>
            <a:r>
              <a:rPr lang="zh-CN" altLang="en-US" sz="1500" b="1" dirty="0" smtClean="0">
                <a:solidFill>
                  <a:srgbClr val="F4F7F8"/>
                </a:solidFill>
              </a:rPr>
              <a:t>生图</a:t>
            </a:r>
            <a:endParaRPr sz="1500" b="1" dirty="0">
              <a:solidFill>
                <a:srgbClr val="F4F7F8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3CE2FA7B-0415-4E56-850B-4F146E8C8572}"/>
              </a:ext>
            </a:extLst>
          </p:cNvPr>
          <p:cNvSpPr>
            <a:spLocks noGrp="1"/>
          </p:cNvSpPr>
          <p:nvPr/>
        </p:nvSpPr>
        <p:spPr>
          <a:xfrm>
            <a:off x="1810870" y="3100387"/>
            <a:ext cx="1600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95A0AA"/>
                </a:solidFill>
              </a:defRPr>
            </a:pPr>
            <a:r>
              <a:rPr lang="zh-CN" altLang="en-US" sz="1125" b="0" dirty="0" smtClean="0">
                <a:solidFill>
                  <a:srgbClr val="95A0AA"/>
                </a:solidFill>
              </a:rPr>
              <a:t>不包含奖品图片</a:t>
            </a:r>
            <a:endParaRPr sz="1125" b="0" dirty="0">
              <a:solidFill>
                <a:srgbClr val="95A0AA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D5C9909C-CF20-475B-B425-83F2D5B08F12}"/>
              </a:ext>
            </a:extLst>
          </p:cNvPr>
          <p:cNvSpPr>
            <a:spLocks noGrp="1"/>
          </p:cNvSpPr>
          <p:nvPr/>
        </p:nvSpPr>
        <p:spPr>
          <a:xfrm>
            <a:off x="3563470" y="2776537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E6974"/>
                </a:solidFill>
              </a:defRPr>
            </a:pPr>
            <a:r>
              <a:rPr sz="1500" b="1">
                <a:solidFill>
                  <a:srgbClr val="5E6974"/>
                </a:solidFill>
              </a:rPr>
              <a:t>→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="" xmlns:a16="http://schemas.microsoft.com/office/drawing/2014/main" id="{9EE56CC8-907B-4A75-9BD0-FEE0BCB99E45}"/>
              </a:ext>
            </a:extLst>
          </p:cNvPr>
          <p:cNvSpPr>
            <a:spLocks noGrp="1"/>
          </p:cNvSpPr>
          <p:nvPr/>
        </p:nvSpPr>
        <p:spPr>
          <a:xfrm>
            <a:off x="3849220" y="2128837"/>
            <a:ext cx="1924050" cy="1638300"/>
          </a:xfrm>
          <a:prstGeom prst="roundRect">
            <a:avLst>
              <a:gd name="adj" fmla="val 6977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03E02D2A-B331-4FEB-A6DD-AABFE71E6A17}"/>
              </a:ext>
            </a:extLst>
          </p:cNvPr>
          <p:cNvSpPr>
            <a:spLocks noGrp="1"/>
          </p:cNvSpPr>
          <p:nvPr/>
        </p:nvSpPr>
        <p:spPr>
          <a:xfrm>
            <a:off x="4020670" y="2300287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B8FF00"/>
                </a:solidFill>
              </a:defRPr>
            </a:pPr>
            <a:r>
              <a:rPr sz="1050" b="1">
                <a:solidFill>
                  <a:srgbClr val="B8FF00"/>
                </a:solidFill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D8983E6A-5278-4F4F-8933-270486D1033E}"/>
              </a:ext>
            </a:extLst>
          </p:cNvPr>
          <p:cNvSpPr>
            <a:spLocks noGrp="1"/>
          </p:cNvSpPr>
          <p:nvPr/>
        </p:nvSpPr>
        <p:spPr>
          <a:xfrm>
            <a:off x="4020670" y="2681287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lang="zh-CN" altLang="en-US" sz="1500" b="1" dirty="0" smtClean="0">
                <a:solidFill>
                  <a:srgbClr val="F4F7F8"/>
                </a:solidFill>
              </a:rPr>
              <a:t>节点调度</a:t>
            </a:r>
            <a:endParaRPr sz="1500" b="1" dirty="0">
              <a:solidFill>
                <a:srgbClr val="F4F7F8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C87AD5D8-DEF9-4103-8036-F1D36040BE69}"/>
              </a:ext>
            </a:extLst>
          </p:cNvPr>
          <p:cNvSpPr>
            <a:spLocks noGrp="1"/>
          </p:cNvSpPr>
          <p:nvPr/>
        </p:nvSpPr>
        <p:spPr>
          <a:xfrm>
            <a:off x="4020670" y="3100387"/>
            <a:ext cx="1600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95A0AA"/>
                </a:solidFill>
              </a:defRPr>
            </a:pPr>
            <a:r>
              <a:rPr lang="en-US" sz="1125" dirty="0" err="1" smtClean="0">
                <a:solidFill>
                  <a:srgbClr val="95A0AA"/>
                </a:solidFill>
              </a:rPr>
              <a:t>F</a:t>
            </a:r>
            <a:r>
              <a:rPr lang="en-US" altLang="zh-CN" sz="1125" dirty="0" err="1" smtClean="0">
                <a:solidFill>
                  <a:srgbClr val="95A0AA"/>
                </a:solidFill>
              </a:rPr>
              <a:t>lowxX</a:t>
            </a:r>
            <a:r>
              <a:rPr lang="en-US" altLang="zh-CN" sz="1125" dirty="0" smtClean="0">
                <a:solidFill>
                  <a:srgbClr val="95A0AA"/>
                </a:solidFill>
              </a:rPr>
              <a:t> </a:t>
            </a:r>
            <a:r>
              <a:rPr lang="zh-CN" altLang="en-US" sz="1125" dirty="0" smtClean="0">
                <a:solidFill>
                  <a:srgbClr val="95A0AA"/>
                </a:solidFill>
              </a:rPr>
              <a:t>分发计算任务</a:t>
            </a:r>
            <a:endParaRPr sz="1125" b="0" dirty="0">
              <a:solidFill>
                <a:srgbClr val="95A0AA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3EA60CD4-F197-4E91-A031-5F13D08791F8}"/>
              </a:ext>
            </a:extLst>
          </p:cNvPr>
          <p:cNvSpPr>
            <a:spLocks noGrp="1"/>
          </p:cNvSpPr>
          <p:nvPr/>
        </p:nvSpPr>
        <p:spPr>
          <a:xfrm>
            <a:off x="5773270" y="2776537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E6974"/>
                </a:solidFill>
              </a:defRPr>
            </a:pPr>
            <a:r>
              <a:rPr sz="1500" b="1">
                <a:solidFill>
                  <a:srgbClr val="5E6974"/>
                </a:solidFill>
              </a:rPr>
              <a:t>→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="" xmlns:a16="http://schemas.microsoft.com/office/drawing/2014/main" id="{455754F5-86E4-40AF-A320-AAB500E48414}"/>
              </a:ext>
            </a:extLst>
          </p:cNvPr>
          <p:cNvSpPr>
            <a:spLocks noGrp="1"/>
          </p:cNvSpPr>
          <p:nvPr/>
        </p:nvSpPr>
        <p:spPr>
          <a:xfrm>
            <a:off x="6059020" y="2128837"/>
            <a:ext cx="1924050" cy="1638300"/>
          </a:xfrm>
          <a:prstGeom prst="roundRect">
            <a:avLst>
              <a:gd name="adj" fmla="val 6977"/>
            </a:avLst>
          </a:prstGeom>
          <a:solidFill>
            <a:srgbClr val="132028"/>
          </a:solidFill>
          <a:ln w="9525">
            <a:solidFill>
              <a:srgbClr val="43D6E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8CDB6D1C-CBDB-4ADE-8469-D8FA30E3933F}"/>
              </a:ext>
            </a:extLst>
          </p:cNvPr>
          <p:cNvSpPr>
            <a:spLocks noGrp="1"/>
          </p:cNvSpPr>
          <p:nvPr/>
        </p:nvSpPr>
        <p:spPr>
          <a:xfrm>
            <a:off x="6230470" y="2300287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3D6E8"/>
                </a:solidFill>
              </a:defRPr>
            </a:pPr>
            <a:r>
              <a:rPr sz="1050" b="1" dirty="0" smtClean="0">
                <a:solidFill>
                  <a:srgbClr val="43D6E8"/>
                </a:solidFill>
              </a:rPr>
              <a:t>0</a:t>
            </a:r>
            <a:r>
              <a:rPr lang="en-US" sz="1050" b="1" dirty="0">
                <a:solidFill>
                  <a:srgbClr val="43D6E8"/>
                </a:solidFill>
              </a:rPr>
              <a:t>3</a:t>
            </a:r>
            <a:endParaRPr sz="1050" b="1" dirty="0">
              <a:solidFill>
                <a:srgbClr val="43D6E8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A1C29557-B857-4916-931D-C8ABCDD2ED4A}"/>
              </a:ext>
            </a:extLst>
          </p:cNvPr>
          <p:cNvSpPr>
            <a:spLocks noGrp="1"/>
          </p:cNvSpPr>
          <p:nvPr/>
        </p:nvSpPr>
        <p:spPr>
          <a:xfrm>
            <a:off x="6230470" y="2681287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lang="zh-CN" altLang="en-US" sz="1500" b="1" dirty="0" smtClean="0">
                <a:solidFill>
                  <a:srgbClr val="F4F7F8"/>
                </a:solidFill>
              </a:rPr>
              <a:t>节点 </a:t>
            </a:r>
            <a:r>
              <a:rPr sz="1500" b="1" dirty="0" smtClean="0">
                <a:solidFill>
                  <a:srgbClr val="F4F7F8"/>
                </a:solidFill>
              </a:rPr>
              <a:t>GPU </a:t>
            </a:r>
            <a:r>
              <a:rPr lang="zh-CN" altLang="en-US" sz="1500" b="1" dirty="0">
                <a:solidFill>
                  <a:srgbClr val="F4F7F8"/>
                </a:solidFill>
              </a:rPr>
              <a:t>处理</a:t>
            </a:r>
            <a:endParaRPr sz="1500" b="1" dirty="0">
              <a:solidFill>
                <a:srgbClr val="F4F7F8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83E5C945-C8F6-4FF0-9C61-A4FB48C90131}"/>
              </a:ext>
            </a:extLst>
          </p:cNvPr>
          <p:cNvSpPr>
            <a:spLocks noGrp="1"/>
          </p:cNvSpPr>
          <p:nvPr/>
        </p:nvSpPr>
        <p:spPr>
          <a:xfrm>
            <a:off x="6230470" y="3100387"/>
            <a:ext cx="1600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95A0AA"/>
                </a:solidFill>
              </a:defRPr>
            </a:pPr>
            <a:r>
              <a:rPr sz="1125" b="0" dirty="0" err="1">
                <a:solidFill>
                  <a:srgbClr val="95A0AA"/>
                </a:solidFill>
              </a:rPr>
              <a:t>ComfyUI</a:t>
            </a:r>
            <a:r>
              <a:rPr sz="1125" b="0" dirty="0">
                <a:solidFill>
                  <a:srgbClr val="95A0AA"/>
                </a:solidFill>
              </a:rPr>
              <a:t> / CUDA </a:t>
            </a:r>
            <a:r>
              <a:rPr sz="1125" b="0" dirty="0" err="1" smtClean="0">
                <a:solidFill>
                  <a:srgbClr val="95A0AA"/>
                </a:solidFill>
              </a:rPr>
              <a:t>执行</a:t>
            </a:r>
            <a:r>
              <a:rPr lang="zh-CN" altLang="en-US" sz="1125" b="0" dirty="0" smtClean="0">
                <a:solidFill>
                  <a:srgbClr val="95A0AA"/>
                </a:solidFill>
              </a:rPr>
              <a:t>合成算法</a:t>
            </a:r>
            <a:endParaRPr sz="1125" b="0" dirty="0">
              <a:solidFill>
                <a:srgbClr val="95A0AA"/>
              </a:solidFill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="" xmlns:a16="http://schemas.microsoft.com/office/drawing/2014/main" id="{9EE56CC8-907B-4A75-9BD0-FEE0BCB99E45}"/>
              </a:ext>
            </a:extLst>
          </p:cNvPr>
          <p:cNvSpPr>
            <a:spLocks noGrp="1"/>
          </p:cNvSpPr>
          <p:nvPr/>
        </p:nvSpPr>
        <p:spPr>
          <a:xfrm>
            <a:off x="8306920" y="2147157"/>
            <a:ext cx="1924050" cy="1638300"/>
          </a:xfrm>
          <a:prstGeom prst="roundRect">
            <a:avLst>
              <a:gd name="adj" fmla="val 6977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="" xmlns:a16="http://schemas.microsoft.com/office/drawing/2014/main" id="{03E02D2A-B331-4FEB-A6DD-AABFE71E6A17}"/>
              </a:ext>
            </a:extLst>
          </p:cNvPr>
          <p:cNvSpPr>
            <a:spLocks noGrp="1"/>
          </p:cNvSpPr>
          <p:nvPr/>
        </p:nvSpPr>
        <p:spPr>
          <a:xfrm>
            <a:off x="8478370" y="2318607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B8FF00"/>
                </a:solidFill>
              </a:defRPr>
            </a:pPr>
            <a:r>
              <a:rPr sz="1050" b="1" dirty="0" smtClean="0">
                <a:solidFill>
                  <a:srgbClr val="B8FF00"/>
                </a:solidFill>
              </a:rPr>
              <a:t>0</a:t>
            </a:r>
            <a:r>
              <a:rPr lang="en-US" sz="1050" b="1" dirty="0" smtClean="0">
                <a:solidFill>
                  <a:srgbClr val="B8FF00"/>
                </a:solidFill>
              </a:rPr>
              <a:t>4</a:t>
            </a:r>
            <a:endParaRPr sz="1050" b="1" dirty="0">
              <a:solidFill>
                <a:srgbClr val="B8FF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="" xmlns:a16="http://schemas.microsoft.com/office/drawing/2014/main" id="{D8983E6A-5278-4F4F-8933-270486D1033E}"/>
              </a:ext>
            </a:extLst>
          </p:cNvPr>
          <p:cNvSpPr>
            <a:spLocks noGrp="1"/>
          </p:cNvSpPr>
          <p:nvPr/>
        </p:nvSpPr>
        <p:spPr>
          <a:xfrm>
            <a:off x="8478370" y="2699607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lang="zh-CN" altLang="en-US" sz="1500" b="1" dirty="0" smtClean="0">
                <a:solidFill>
                  <a:srgbClr val="F4F7F8"/>
                </a:solidFill>
              </a:rPr>
              <a:t>结果回传</a:t>
            </a:r>
            <a:endParaRPr sz="1500" b="1" dirty="0">
              <a:solidFill>
                <a:srgbClr val="F4F7F8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="" xmlns:a16="http://schemas.microsoft.com/office/drawing/2014/main" id="{C87AD5D8-DEF9-4103-8036-F1D36040BE69}"/>
              </a:ext>
            </a:extLst>
          </p:cNvPr>
          <p:cNvSpPr>
            <a:spLocks noGrp="1"/>
          </p:cNvSpPr>
          <p:nvPr/>
        </p:nvSpPr>
        <p:spPr>
          <a:xfrm>
            <a:off x="8478370" y="3118707"/>
            <a:ext cx="1600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95A0AA"/>
                </a:solidFill>
              </a:defRPr>
            </a:pPr>
            <a:r>
              <a:rPr lang="zh-CN" altLang="en-US" sz="1125" dirty="0" smtClean="0">
                <a:solidFill>
                  <a:srgbClr val="95A0AA"/>
                </a:solidFill>
              </a:rPr>
              <a:t>分布计算降低服务器负载</a:t>
            </a:r>
            <a:endParaRPr sz="1125" b="0" dirty="0">
              <a:solidFill>
                <a:srgbClr val="95A0AA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="" xmlns:a16="http://schemas.microsoft.com/office/drawing/2014/main" id="{3EA60CD4-F197-4E91-A031-5F13D08791F8}"/>
              </a:ext>
            </a:extLst>
          </p:cNvPr>
          <p:cNvSpPr>
            <a:spLocks noGrp="1"/>
          </p:cNvSpPr>
          <p:nvPr/>
        </p:nvSpPr>
        <p:spPr>
          <a:xfrm>
            <a:off x="10230970" y="2794857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E6974"/>
                </a:solidFill>
              </a:defRPr>
            </a:pPr>
            <a:r>
              <a:rPr sz="1500" b="1" dirty="0">
                <a:solidFill>
                  <a:srgbClr val="5E6974"/>
                </a:solidFill>
              </a:rPr>
              <a:t>→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="" xmlns:a16="http://schemas.microsoft.com/office/drawing/2014/main" id="{3EA60CD4-F197-4E91-A031-5F13D08791F8}"/>
              </a:ext>
            </a:extLst>
          </p:cNvPr>
          <p:cNvSpPr>
            <a:spLocks noGrp="1"/>
          </p:cNvSpPr>
          <p:nvPr/>
        </p:nvSpPr>
        <p:spPr>
          <a:xfrm>
            <a:off x="8021170" y="2760372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E6974"/>
                </a:solidFill>
              </a:defRPr>
            </a:pPr>
            <a:r>
              <a:rPr sz="1500" b="1" dirty="0">
                <a:solidFill>
                  <a:srgbClr val="5E6974"/>
                </a:solidFill>
              </a:rPr>
              <a:t>→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970" y="4058515"/>
            <a:ext cx="7240010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C966CD19-88BC-4108-9CC2-A18C706D6804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8FF00"/>
                </a:solidFill>
              </a:defRPr>
            </a:pPr>
            <a:r>
              <a:rPr sz="975" b="1" dirty="0">
                <a:solidFill>
                  <a:srgbClr val="B8FF00"/>
                </a:solidFill>
              </a:rPr>
              <a:t>CASE </a:t>
            </a:r>
            <a:r>
              <a:rPr sz="975" b="1" dirty="0" smtClean="0">
                <a:solidFill>
                  <a:srgbClr val="B8FF00"/>
                </a:solidFill>
              </a:rPr>
              <a:t>01</a:t>
            </a:r>
            <a:endParaRPr sz="975" b="1" dirty="0">
              <a:solidFill>
                <a:srgbClr val="B8FF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4B562CEC-A7A7-49CB-B5ED-6281F41586F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4F7F8"/>
                </a:solidFill>
              </a:defRPr>
            </a:pPr>
            <a:r>
              <a:rPr sz="2850" b="1">
                <a:solidFill>
                  <a:srgbClr val="F4F7F8"/>
                </a:solidFill>
              </a:rPr>
              <a:t>批量结果不是终点，可审核才是交付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F9BBBC91-7645-4270-8D1A-0B8F33F39E18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5A0AA"/>
                </a:solidFill>
              </a:defRPr>
            </a:pPr>
            <a:r>
              <a:rPr sz="1350" b="0">
                <a:solidFill>
                  <a:srgbClr val="95A0AA"/>
                </a:solidFill>
              </a:rPr>
              <a:t>每张素材都保留失败识别、单张重试、下载与项目追踪能力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81401C9-B67A-4A9C-B329-FC047133266E}"/>
              </a:ext>
            </a:extLst>
          </p:cNvPr>
          <p:cNvSpPr>
            <a:spLocks noGrp="1"/>
          </p:cNvSpPr>
          <p:nvPr/>
        </p:nvSpPr>
        <p:spPr>
          <a:xfrm>
            <a:off x="590550" y="1600200"/>
            <a:ext cx="11010900" cy="9525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75C0679C-D701-4E0F-8119-F0785329BB5D}"/>
              </a:ext>
            </a:extLst>
          </p:cNvPr>
          <p:cNvSpPr>
            <a:spLocks noGrp="1"/>
          </p:cNvSpPr>
          <p:nvPr/>
        </p:nvSpPr>
        <p:spPr>
          <a:xfrm>
            <a:off x="590550" y="19716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B8FF00"/>
                </a:solidFill>
              </a:defRPr>
            </a:pPr>
            <a:r>
              <a:rPr sz="1125" b="1">
                <a:solidFill>
                  <a:srgbClr val="B8FF00"/>
                </a:solidFill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2947BE6B-4CBC-4769-AAFF-932A30DB9ACB}"/>
              </a:ext>
            </a:extLst>
          </p:cNvPr>
          <p:cNvSpPr>
            <a:spLocks noGrp="1"/>
          </p:cNvSpPr>
          <p:nvPr/>
        </p:nvSpPr>
        <p:spPr>
          <a:xfrm>
            <a:off x="1066800" y="19526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sz="1500" b="1">
                <a:solidFill>
                  <a:srgbClr val="F4F7F8"/>
                </a:solidFill>
              </a:rPr>
              <a:t>状态可见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3F96A716-E394-4227-9164-58B868858081}"/>
              </a:ext>
            </a:extLst>
          </p:cNvPr>
          <p:cNvSpPr>
            <a:spLocks noGrp="1"/>
          </p:cNvSpPr>
          <p:nvPr/>
        </p:nvSpPr>
        <p:spPr>
          <a:xfrm>
            <a:off x="1066800" y="2276475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95A0AA"/>
                </a:solidFill>
              </a:defRPr>
            </a:pPr>
            <a:r>
              <a:rPr sz="1200" b="0">
                <a:solidFill>
                  <a:srgbClr val="95A0AA"/>
                </a:solidFill>
              </a:rPr>
              <a:t>成功、失败与处理中状态在同一结果页集中呈现。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723A681D-D444-456A-A1AD-5000E0F5F3DF}"/>
              </a:ext>
            </a:extLst>
          </p:cNvPr>
          <p:cNvSpPr>
            <a:spLocks noGrp="1"/>
          </p:cNvSpPr>
          <p:nvPr/>
        </p:nvSpPr>
        <p:spPr>
          <a:xfrm>
            <a:off x="590550" y="28670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3D6E8"/>
                </a:solidFill>
              </a:defRPr>
            </a:pPr>
            <a:r>
              <a:rPr sz="1125" b="1">
                <a:solidFill>
                  <a:srgbClr val="43D6E8"/>
                </a:solidFill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8C5DD0B9-EA16-481C-A75A-89D1817CFBF0}"/>
              </a:ext>
            </a:extLst>
          </p:cNvPr>
          <p:cNvSpPr>
            <a:spLocks noGrp="1"/>
          </p:cNvSpPr>
          <p:nvPr/>
        </p:nvSpPr>
        <p:spPr>
          <a:xfrm>
            <a:off x="1066800" y="284797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sz="1500" b="1">
                <a:solidFill>
                  <a:srgbClr val="F4F7F8"/>
                </a:solidFill>
              </a:rPr>
              <a:t>单张重试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E9EA7075-6935-4704-BCC4-39585A4C5499}"/>
              </a:ext>
            </a:extLst>
          </p:cNvPr>
          <p:cNvSpPr>
            <a:spLocks noGrp="1"/>
          </p:cNvSpPr>
          <p:nvPr/>
        </p:nvSpPr>
        <p:spPr>
          <a:xfrm>
            <a:off x="1066800" y="3171825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95A0AA"/>
                </a:solidFill>
              </a:defRPr>
            </a:pPr>
            <a:r>
              <a:rPr sz="1200" b="0">
                <a:solidFill>
                  <a:srgbClr val="95A0AA"/>
                </a:solidFill>
              </a:rPr>
              <a:t>局部失败不阻塞整批交付，直接对目标资源位重新生成。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B84D3C43-B616-439F-B776-0BB395F37B43}"/>
              </a:ext>
            </a:extLst>
          </p:cNvPr>
          <p:cNvSpPr>
            <a:spLocks noGrp="1"/>
          </p:cNvSpPr>
          <p:nvPr/>
        </p:nvSpPr>
        <p:spPr>
          <a:xfrm>
            <a:off x="590550" y="37623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B8FF00"/>
                </a:solidFill>
              </a:defRPr>
            </a:pPr>
            <a:r>
              <a:rPr sz="1125" b="1" dirty="0">
                <a:solidFill>
                  <a:srgbClr val="B8FF00"/>
                </a:solidFill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E5534E34-6F31-442B-BC17-5695905A7355}"/>
              </a:ext>
            </a:extLst>
          </p:cNvPr>
          <p:cNvSpPr>
            <a:spLocks noGrp="1"/>
          </p:cNvSpPr>
          <p:nvPr/>
        </p:nvSpPr>
        <p:spPr>
          <a:xfrm>
            <a:off x="1066800" y="37433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sz="1500" b="1">
                <a:solidFill>
                  <a:srgbClr val="F4F7F8"/>
                </a:solidFill>
              </a:rPr>
              <a:t>分层下载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81B9E136-58CA-41F2-8399-AE4D064EA664}"/>
              </a:ext>
            </a:extLst>
          </p:cNvPr>
          <p:cNvSpPr>
            <a:spLocks noGrp="1"/>
          </p:cNvSpPr>
          <p:nvPr/>
        </p:nvSpPr>
        <p:spPr>
          <a:xfrm>
            <a:off x="1066800" y="4067175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95A0AA"/>
                </a:solidFill>
              </a:defRPr>
            </a:pPr>
            <a:r>
              <a:rPr sz="1200" b="0">
                <a:solidFill>
                  <a:srgbClr val="95A0AA"/>
                </a:solidFill>
              </a:rPr>
              <a:t>支持单张确认、单张下载和整批结果统一导出。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AADDD7F9-3F01-4931-B144-F0F6EEE92817}"/>
              </a:ext>
            </a:extLst>
          </p:cNvPr>
          <p:cNvSpPr>
            <a:spLocks noGrp="1"/>
          </p:cNvSpPr>
          <p:nvPr/>
        </p:nvSpPr>
        <p:spPr>
          <a:xfrm>
            <a:off x="590550" y="46577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3D6E8"/>
                </a:solidFill>
              </a:defRPr>
            </a:pPr>
            <a:r>
              <a:rPr sz="1125" b="1">
                <a:solidFill>
                  <a:srgbClr val="43D6E8"/>
                </a:solidFill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5798D3DC-012B-4D25-B40C-20A4308B5221}"/>
              </a:ext>
            </a:extLst>
          </p:cNvPr>
          <p:cNvSpPr>
            <a:spLocks noGrp="1"/>
          </p:cNvSpPr>
          <p:nvPr/>
        </p:nvSpPr>
        <p:spPr>
          <a:xfrm>
            <a:off x="1066800" y="463867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sz="1500" b="1">
                <a:solidFill>
                  <a:srgbClr val="F4F7F8"/>
                </a:solidFill>
              </a:rPr>
              <a:t>历史恢复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B1E1F2D3-2F0B-460C-B208-6FF55FD3695A}"/>
              </a:ext>
            </a:extLst>
          </p:cNvPr>
          <p:cNvSpPr>
            <a:spLocks noGrp="1"/>
          </p:cNvSpPr>
          <p:nvPr/>
        </p:nvSpPr>
        <p:spPr>
          <a:xfrm>
            <a:off x="1066800" y="4962525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95A0AA"/>
                </a:solidFill>
              </a:defRPr>
            </a:pPr>
            <a:r>
              <a:rPr sz="1200" b="0">
                <a:solidFill>
                  <a:srgbClr val="95A0AA"/>
                </a:solidFill>
              </a:rPr>
              <a:t>项目记录保留 KV、规格与进度，离开页面后继续接管。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="" xmlns:a16="http://schemas.microsoft.com/office/drawing/2014/main" id="{5AC39DB1-D68F-44AF-ABC7-17A8C9EACFA7}"/>
              </a:ext>
            </a:extLst>
          </p:cNvPr>
          <p:cNvSpPr>
            <a:spLocks noGrp="1"/>
          </p:cNvSpPr>
          <p:nvPr/>
        </p:nvSpPr>
        <p:spPr>
          <a:xfrm>
            <a:off x="4009435" y="1870821"/>
            <a:ext cx="7955056" cy="4520454"/>
          </a:xfrm>
          <a:prstGeom prst="roundRect">
            <a:avLst>
              <a:gd name="adj" fmla="val 2817"/>
            </a:avLst>
          </a:prstGeom>
          <a:solidFill>
            <a:srgbClr val="151B22"/>
          </a:solidFill>
          <a:ln w="9525">
            <a:solidFill>
              <a:srgbClr val="2A343E"/>
            </a:solidFill>
            <a:prstDash val="solid"/>
          </a:ln>
        </p:spPr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rcRect t="505" b="505"/>
          <a:stretch>
            <a:fillRect/>
          </a:stretch>
        </p:blipFill>
        <p:spPr>
          <a:xfrm>
            <a:off x="4114800" y="2000249"/>
            <a:ext cx="7809350" cy="4333875"/>
          </a:xfrm>
          <a:prstGeom prst="roundRect">
            <a:avLst>
              <a:gd name="adj" fmla="val 1932"/>
            </a:avLst>
          </a:prstGeom>
        </p:spPr>
      </p:pic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B84D3C43-B616-439F-B776-0BB395F37B43}"/>
              </a:ext>
            </a:extLst>
          </p:cNvPr>
          <p:cNvSpPr>
            <a:spLocks noGrp="1"/>
          </p:cNvSpPr>
          <p:nvPr/>
        </p:nvSpPr>
        <p:spPr>
          <a:xfrm>
            <a:off x="590550" y="55340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B8FF00"/>
                </a:solidFill>
              </a:defRPr>
            </a:pPr>
            <a:r>
              <a:rPr sz="1125" b="1" dirty="0">
                <a:solidFill>
                  <a:srgbClr val="B8FF00"/>
                </a:solidFill>
              </a:rPr>
              <a:t>03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E5534E34-6F31-442B-BC17-5695905A7355}"/>
              </a:ext>
            </a:extLst>
          </p:cNvPr>
          <p:cNvSpPr>
            <a:spLocks noGrp="1"/>
          </p:cNvSpPr>
          <p:nvPr/>
        </p:nvSpPr>
        <p:spPr>
          <a:xfrm>
            <a:off x="1066800" y="551497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F7F8"/>
                </a:solidFill>
              </a:defRPr>
            </a:pPr>
            <a:r>
              <a:rPr lang="en-US" sz="1500" b="1" dirty="0" smtClean="0">
                <a:solidFill>
                  <a:srgbClr val="F4F7F8"/>
                </a:solidFill>
              </a:rPr>
              <a:t>A/B</a:t>
            </a:r>
            <a:r>
              <a:rPr lang="zh-CN" altLang="en-US" sz="1500" b="1" dirty="0" smtClean="0">
                <a:solidFill>
                  <a:srgbClr val="F4F7F8"/>
                </a:solidFill>
              </a:rPr>
              <a:t>版生成</a:t>
            </a:r>
            <a:endParaRPr sz="1500" b="1" dirty="0">
              <a:solidFill>
                <a:srgbClr val="F4F7F8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81B9E136-58CA-41F2-8399-AE4D064EA664}"/>
              </a:ext>
            </a:extLst>
          </p:cNvPr>
          <p:cNvSpPr>
            <a:spLocks noGrp="1"/>
          </p:cNvSpPr>
          <p:nvPr/>
        </p:nvSpPr>
        <p:spPr>
          <a:xfrm>
            <a:off x="1066800" y="5838825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95A0AA"/>
                </a:solidFill>
              </a:defRPr>
            </a:pPr>
            <a:r>
              <a:rPr lang="en-US" sz="1200" dirty="0" smtClean="0">
                <a:solidFill>
                  <a:srgbClr val="95A0AA"/>
                </a:solidFill>
              </a:rPr>
              <a:t>A/B </a:t>
            </a:r>
            <a:r>
              <a:rPr lang="zh-CN" altLang="en-US" sz="1200" dirty="0" smtClean="0">
                <a:solidFill>
                  <a:srgbClr val="95A0AA"/>
                </a:solidFill>
              </a:rPr>
              <a:t>两侧生成，可供效果择优和失败兜底。</a:t>
            </a:r>
            <a:endParaRPr sz="1200" b="0" dirty="0">
              <a:solidFill>
                <a:srgbClr val="95A0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30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="" xmlns:a16="http://schemas.microsoft.com/office/drawing/2014/main" id="{F4C1B963-73AF-4C68-9838-7A0129161CD8}"/>
              </a:ext>
            </a:extLst>
          </p:cNvPr>
          <p:cNvSpPr>
            <a:spLocks noGrp="1"/>
          </p:cNvSpPr>
          <p:nvPr/>
        </p:nvSpPr>
        <p:spPr>
          <a:xfrm>
            <a:off x="3530973" y="2869826"/>
            <a:ext cx="4707591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43D6E8"/>
                </a:solidFill>
              </a:defRPr>
            </a:pPr>
            <a:r>
              <a:rPr lang="en-US" sz="3900" b="1" dirty="0" smtClean="0">
                <a:solidFill>
                  <a:srgbClr val="43D6E8"/>
                </a:solidFill>
              </a:rPr>
              <a:t>CASE2 </a:t>
            </a:r>
            <a:r>
              <a:rPr lang="zh-CN" altLang="en-US" sz="3900" b="1" dirty="0" smtClean="0">
                <a:solidFill>
                  <a:srgbClr val="43D6E8"/>
                </a:solidFill>
              </a:rPr>
              <a:t>大屏素材渲染</a:t>
            </a:r>
            <a:endParaRPr sz="3900" b="1" dirty="0">
              <a:solidFill>
                <a:srgbClr val="43D6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279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3C033548-DD0C-4341-81FA-8FE1D71CB112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8FF00"/>
                </a:solidFill>
              </a:defRPr>
            </a:pPr>
            <a:r>
              <a:rPr sz="975" b="1" dirty="0">
                <a:solidFill>
                  <a:srgbClr val="B8FF00"/>
                </a:solidFill>
              </a:rPr>
              <a:t>CASE </a:t>
            </a:r>
            <a:r>
              <a:rPr sz="975" b="1" dirty="0" smtClean="0">
                <a:solidFill>
                  <a:srgbClr val="B8FF00"/>
                </a:solidFill>
              </a:rPr>
              <a:t>02</a:t>
            </a:r>
            <a:endParaRPr sz="975" b="1" dirty="0">
              <a:solidFill>
                <a:srgbClr val="B8FF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A78A7DD7-E33A-463E-A727-343099B631A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4F7F8"/>
                </a:solidFill>
              </a:defRPr>
            </a:pPr>
            <a:r>
              <a:rPr lang="zh-CN" altLang="en-US" sz="2850" b="1" dirty="0">
                <a:solidFill>
                  <a:srgbClr val="F4F7F8"/>
                </a:solidFill>
              </a:rPr>
              <a:t>两</a:t>
            </a:r>
            <a:r>
              <a:rPr lang="zh-CN" altLang="en-US" sz="2850" b="1" dirty="0" smtClean="0">
                <a:solidFill>
                  <a:srgbClr val="F4F7F8"/>
                </a:solidFill>
              </a:rPr>
              <a:t>个提效 </a:t>
            </a:r>
            <a:r>
              <a:rPr lang="en-US" altLang="zh-CN" sz="2850" b="1" dirty="0" smtClean="0">
                <a:solidFill>
                  <a:srgbClr val="F4F7F8"/>
                </a:solidFill>
              </a:rPr>
              <a:t>TARGET</a:t>
            </a:r>
            <a:endParaRPr sz="2850" b="1" dirty="0">
              <a:solidFill>
                <a:srgbClr val="F4F7F8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8AD31D40-8906-436A-9A49-F1786B26D608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5A0AA"/>
                </a:solidFill>
              </a:defRPr>
            </a:pPr>
            <a:r>
              <a:rPr sz="1350" b="0" dirty="0" err="1" smtClean="0">
                <a:solidFill>
                  <a:srgbClr val="95A0AA"/>
                </a:solidFill>
              </a:rPr>
              <a:t>渲染机变成平台可直接调用的本地执行节点</a:t>
            </a:r>
            <a:r>
              <a:rPr lang="zh-CN" altLang="en-US" sz="1350" b="0" dirty="0" smtClean="0">
                <a:solidFill>
                  <a:srgbClr val="95A0AA"/>
                </a:solidFill>
              </a:rPr>
              <a:t>，无需人工操控。统一的文件组织范式，实现素材自动替换。</a:t>
            </a:r>
            <a:endParaRPr sz="1350" b="0" dirty="0">
              <a:solidFill>
                <a:srgbClr val="95A0AA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3F50D878-6BE7-4519-95F5-385CA3027EA3}"/>
              </a:ext>
            </a:extLst>
          </p:cNvPr>
          <p:cNvSpPr>
            <a:spLocks noGrp="1"/>
          </p:cNvSpPr>
          <p:nvPr/>
        </p:nvSpPr>
        <p:spPr>
          <a:xfrm>
            <a:off x="590550" y="1600200"/>
            <a:ext cx="11010900" cy="9525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FD3042A3-05EA-4083-8219-0882E8226E59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B8FF00"/>
                </a:solidFill>
              </a:defRPr>
            </a:pPr>
            <a:r>
              <a:rPr sz="2850" b="1">
                <a:solidFill>
                  <a:srgbClr val="B8FF00"/>
                </a:solidFill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A6D05B32-377A-4CA0-A4B6-9F44F9AB410A}"/>
              </a:ext>
            </a:extLst>
          </p:cNvPr>
          <p:cNvSpPr>
            <a:spLocks noGrp="1"/>
          </p:cNvSpPr>
          <p:nvPr/>
        </p:nvSpPr>
        <p:spPr>
          <a:xfrm>
            <a:off x="628650" y="2781300"/>
            <a:ext cx="2990850" cy="28575"/>
          </a:xfrm>
          <a:prstGeom prst="rect">
            <a:avLst/>
          </a:prstGeom>
          <a:solidFill>
            <a:srgbClr val="B8FF0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E9A54250-8CD0-40AA-ACBB-FEE06558BD4A}"/>
              </a:ext>
            </a:extLst>
          </p:cNvPr>
          <p:cNvSpPr>
            <a:spLocks noGrp="1"/>
          </p:cNvSpPr>
          <p:nvPr/>
        </p:nvSpPr>
        <p:spPr>
          <a:xfrm>
            <a:off x="628650" y="30480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4F7F8"/>
                </a:solidFill>
              </a:defRPr>
            </a:pPr>
            <a:r>
              <a:rPr sz="1800" b="1" dirty="0" err="1" smtClean="0">
                <a:solidFill>
                  <a:srgbClr val="F4F7F8"/>
                </a:solidFill>
              </a:rPr>
              <a:t>无需</a:t>
            </a:r>
            <a:r>
              <a:rPr lang="zh-CN" altLang="en-US" sz="1800" b="1" dirty="0" smtClean="0">
                <a:solidFill>
                  <a:srgbClr val="F4F7F8"/>
                </a:solidFill>
              </a:rPr>
              <a:t>操控</a:t>
            </a:r>
            <a:r>
              <a:rPr sz="1800" b="1" dirty="0" err="1" smtClean="0">
                <a:solidFill>
                  <a:srgbClr val="F4F7F8"/>
                </a:solidFill>
              </a:rPr>
              <a:t>渲染机</a:t>
            </a:r>
            <a:endParaRPr sz="1800" b="1" dirty="0">
              <a:solidFill>
                <a:srgbClr val="F4F7F8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ACC676D2-1C9A-4320-87B0-60CAAAC2DE4E}"/>
              </a:ext>
            </a:extLst>
          </p:cNvPr>
          <p:cNvSpPr>
            <a:spLocks noGrp="1"/>
          </p:cNvSpPr>
          <p:nvPr/>
        </p:nvSpPr>
        <p:spPr>
          <a:xfrm>
            <a:off x="628650" y="3600450"/>
            <a:ext cx="30289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5A0AA"/>
                </a:solidFill>
              </a:defRPr>
            </a:pPr>
            <a:r>
              <a:rPr sz="1350" b="0">
                <a:solidFill>
                  <a:srgbClr val="95A0AA"/>
                </a:solidFill>
              </a:rPr>
              <a:t>网页提交模板和替换素材，节点自动领取、执行并回传结果。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7BF1C80D-8ACA-4D26-99F2-01C3D7CA8D96}"/>
              </a:ext>
            </a:extLst>
          </p:cNvPr>
          <p:cNvSpPr>
            <a:spLocks noGrp="1"/>
          </p:cNvSpPr>
          <p:nvPr/>
        </p:nvSpPr>
        <p:spPr>
          <a:xfrm>
            <a:off x="628650" y="48768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B8FF00"/>
                </a:solidFill>
              </a:defRPr>
            </a:pPr>
            <a:r>
              <a:rPr sz="1050" b="1">
                <a:solidFill>
                  <a:srgbClr val="B8FF00"/>
                </a:solidFill>
              </a:rPr>
              <a:t>平台调度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365E81BF-5A6F-4872-A69E-A0CB5429728D}"/>
              </a:ext>
            </a:extLst>
          </p:cNvPr>
          <p:cNvSpPr>
            <a:spLocks noGrp="1"/>
          </p:cNvSpPr>
          <p:nvPr/>
        </p:nvSpPr>
        <p:spPr>
          <a:xfrm>
            <a:off x="4248150" y="213360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43D6E8"/>
                </a:solidFill>
              </a:defRPr>
            </a:pPr>
            <a:r>
              <a:rPr sz="2850" b="1">
                <a:solidFill>
                  <a:srgbClr val="43D6E8"/>
                </a:solidFill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A658C3AA-5F2D-4D6E-A222-81EC06A690D8}"/>
              </a:ext>
            </a:extLst>
          </p:cNvPr>
          <p:cNvSpPr>
            <a:spLocks noGrp="1"/>
          </p:cNvSpPr>
          <p:nvPr/>
        </p:nvSpPr>
        <p:spPr>
          <a:xfrm>
            <a:off x="4248150" y="2781300"/>
            <a:ext cx="2990850" cy="28575"/>
          </a:xfrm>
          <a:prstGeom prst="rect">
            <a:avLst/>
          </a:prstGeom>
          <a:solidFill>
            <a:srgbClr val="43D6E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DB491FD3-C974-4B19-A550-48AF3FFF39EB}"/>
              </a:ext>
            </a:extLst>
          </p:cNvPr>
          <p:cNvSpPr>
            <a:spLocks noGrp="1"/>
          </p:cNvSpPr>
          <p:nvPr/>
        </p:nvSpPr>
        <p:spPr>
          <a:xfrm>
            <a:off x="4248150" y="30480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4F7F8"/>
                </a:solidFill>
              </a:defRPr>
            </a:pPr>
            <a:r>
              <a:rPr sz="1800" b="1" dirty="0" err="1" smtClean="0">
                <a:solidFill>
                  <a:srgbClr val="F4F7F8"/>
                </a:solidFill>
              </a:rPr>
              <a:t>无需手动</a:t>
            </a:r>
            <a:r>
              <a:rPr lang="zh-CN" altLang="en-US" sz="1800" b="1" dirty="0" smtClean="0">
                <a:solidFill>
                  <a:srgbClr val="F4F7F8"/>
                </a:solidFill>
              </a:rPr>
              <a:t>逐一替换素材</a:t>
            </a:r>
            <a:endParaRPr sz="1800" b="1" dirty="0">
              <a:solidFill>
                <a:srgbClr val="F4F7F8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9E2E77ED-E4BF-495C-BCF1-8372E0FA114B}"/>
              </a:ext>
            </a:extLst>
          </p:cNvPr>
          <p:cNvSpPr>
            <a:spLocks noGrp="1"/>
          </p:cNvSpPr>
          <p:nvPr/>
        </p:nvSpPr>
        <p:spPr>
          <a:xfrm>
            <a:off x="4248150" y="3600450"/>
            <a:ext cx="30289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5A0AA"/>
                </a:solidFill>
              </a:defRPr>
            </a:pPr>
            <a:r>
              <a:rPr lang="zh-CN" altLang="en-US" sz="1350" dirty="0">
                <a:solidFill>
                  <a:srgbClr val="95A0AA"/>
                </a:solidFill>
              </a:rPr>
              <a:t>智能</a:t>
            </a:r>
            <a:r>
              <a:rPr sz="1350" b="0" dirty="0" err="1" smtClean="0">
                <a:solidFill>
                  <a:srgbClr val="95A0AA"/>
                </a:solidFill>
              </a:rPr>
              <a:t>解析</a:t>
            </a:r>
            <a:r>
              <a:rPr sz="1350" b="0" dirty="0" smtClean="0">
                <a:solidFill>
                  <a:srgbClr val="95A0AA"/>
                </a:solidFill>
              </a:rPr>
              <a:t> AEP</a:t>
            </a:r>
            <a:r>
              <a:rPr lang="en-US" sz="1350" b="0" dirty="0" smtClean="0">
                <a:solidFill>
                  <a:srgbClr val="95A0AA"/>
                </a:solidFill>
              </a:rPr>
              <a:t> </a:t>
            </a:r>
            <a:r>
              <a:rPr lang="zh-CN" altLang="en-US" sz="1350" b="0" dirty="0" smtClean="0">
                <a:solidFill>
                  <a:srgbClr val="95A0AA"/>
                </a:solidFill>
              </a:rPr>
              <a:t>模板</a:t>
            </a:r>
            <a:r>
              <a:rPr sz="1350" b="0" dirty="0" smtClean="0">
                <a:solidFill>
                  <a:srgbClr val="95A0AA"/>
                </a:solidFill>
              </a:rPr>
              <a:t>，</a:t>
            </a:r>
            <a:r>
              <a:rPr sz="1350" b="0" dirty="0" err="1">
                <a:solidFill>
                  <a:srgbClr val="95A0AA"/>
                </a:solidFill>
              </a:rPr>
              <a:t>自动识别文本、图片、颜色</a:t>
            </a:r>
            <a:r>
              <a:rPr sz="1350" b="0" dirty="0" smtClean="0">
                <a:solidFill>
                  <a:srgbClr val="95A0AA"/>
                </a:solidFill>
              </a:rPr>
              <a:t>、</a:t>
            </a:r>
            <a:r>
              <a:rPr lang="zh-CN" altLang="en-US" sz="1350" b="0" dirty="0" smtClean="0">
                <a:solidFill>
                  <a:srgbClr val="95A0AA"/>
                </a:solidFill>
              </a:rPr>
              <a:t>视频等替换位</a:t>
            </a:r>
            <a:r>
              <a:rPr sz="1350" b="0" dirty="0" smtClean="0">
                <a:solidFill>
                  <a:srgbClr val="95A0AA"/>
                </a:solidFill>
              </a:rPr>
              <a:t>。</a:t>
            </a:r>
            <a:endParaRPr sz="1350" b="0" dirty="0">
              <a:solidFill>
                <a:srgbClr val="95A0AA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ACC10E41-54DB-429F-A47D-BFABE9D77EA4}"/>
              </a:ext>
            </a:extLst>
          </p:cNvPr>
          <p:cNvSpPr>
            <a:spLocks noGrp="1"/>
          </p:cNvSpPr>
          <p:nvPr/>
        </p:nvSpPr>
        <p:spPr>
          <a:xfrm>
            <a:off x="4248150" y="48768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3D6E8"/>
                </a:solidFill>
              </a:defRPr>
            </a:pPr>
            <a:r>
              <a:rPr lang="zh-CN" altLang="en-US" sz="1050" b="1" dirty="0">
                <a:solidFill>
                  <a:srgbClr val="43D6E8"/>
                </a:solidFill>
              </a:rPr>
              <a:t>智能</a:t>
            </a:r>
            <a:r>
              <a:rPr sz="1050" b="1" dirty="0" smtClean="0">
                <a:solidFill>
                  <a:srgbClr val="43D6E8"/>
                </a:solidFill>
              </a:rPr>
              <a:t> </a:t>
            </a:r>
            <a:r>
              <a:rPr sz="1050" b="1" dirty="0" err="1">
                <a:solidFill>
                  <a:srgbClr val="43D6E8"/>
                </a:solidFill>
              </a:rPr>
              <a:t>解析</a:t>
            </a:r>
            <a:endParaRPr sz="1050" b="1" dirty="0">
              <a:solidFill>
                <a:srgbClr val="43D6E8"/>
              </a:solidFill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="" xmlns:a16="http://schemas.microsoft.com/office/drawing/2014/main" id="{C4D6A0DB-2A18-4E02-868B-318426AB30F9}"/>
              </a:ext>
            </a:extLst>
          </p:cNvPr>
          <p:cNvSpPr>
            <a:spLocks noGrp="1"/>
          </p:cNvSpPr>
          <p:nvPr/>
        </p:nvSpPr>
        <p:spPr>
          <a:xfrm>
            <a:off x="628650" y="5467350"/>
            <a:ext cx="10229850" cy="685800"/>
          </a:xfrm>
          <a:prstGeom prst="roundRect">
            <a:avLst>
              <a:gd name="adj" fmla="val 16667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3BA3FDD8-0B41-4546-860E-4CA38B8E92C4}"/>
              </a:ext>
            </a:extLst>
          </p:cNvPr>
          <p:cNvSpPr>
            <a:spLocks noGrp="1"/>
          </p:cNvSpPr>
          <p:nvPr/>
        </p:nvSpPr>
        <p:spPr>
          <a:xfrm>
            <a:off x="857250" y="5657850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4F7F8"/>
                </a:solidFill>
              </a:defRPr>
            </a:pPr>
            <a:r>
              <a:rPr sz="1575" b="1" dirty="0" err="1">
                <a:solidFill>
                  <a:srgbClr val="F4F7F8"/>
                </a:solidFill>
              </a:rPr>
              <a:t>输入</a:t>
            </a:r>
            <a:r>
              <a:rPr sz="1575" b="1" dirty="0">
                <a:solidFill>
                  <a:srgbClr val="F4F7F8"/>
                </a:solidFill>
              </a:rPr>
              <a:t> AEP </a:t>
            </a:r>
            <a:r>
              <a:rPr sz="1575" b="1" dirty="0" err="1">
                <a:solidFill>
                  <a:srgbClr val="F4F7F8"/>
                </a:solidFill>
              </a:rPr>
              <a:t>与素材</a:t>
            </a:r>
            <a:r>
              <a:rPr sz="1575" b="1" dirty="0">
                <a:solidFill>
                  <a:srgbClr val="F4F7F8"/>
                </a:solidFill>
              </a:rPr>
              <a:t> → </a:t>
            </a:r>
            <a:r>
              <a:rPr sz="1575" b="1" dirty="0" err="1">
                <a:solidFill>
                  <a:srgbClr val="F4F7F8"/>
                </a:solidFill>
              </a:rPr>
              <a:t>自动识别替换位</a:t>
            </a:r>
            <a:r>
              <a:rPr sz="1575" b="1" dirty="0">
                <a:solidFill>
                  <a:srgbClr val="F4F7F8"/>
                </a:solidFill>
              </a:rPr>
              <a:t> → </a:t>
            </a:r>
            <a:r>
              <a:rPr sz="1575" b="1" dirty="0" err="1">
                <a:solidFill>
                  <a:srgbClr val="F4F7F8"/>
                </a:solidFill>
              </a:rPr>
              <a:t>本地</a:t>
            </a:r>
            <a:r>
              <a:rPr sz="1575" b="1" dirty="0">
                <a:solidFill>
                  <a:srgbClr val="F4F7F8"/>
                </a:solidFill>
              </a:rPr>
              <a:t> AE </a:t>
            </a:r>
            <a:r>
              <a:rPr sz="1575" b="1" dirty="0" err="1">
                <a:solidFill>
                  <a:srgbClr val="F4F7F8"/>
                </a:solidFill>
              </a:rPr>
              <a:t>渲染</a:t>
            </a:r>
            <a:r>
              <a:rPr sz="1575" b="1" dirty="0">
                <a:solidFill>
                  <a:srgbClr val="F4F7F8"/>
                </a:solidFill>
              </a:rPr>
              <a:t> → </a:t>
            </a:r>
            <a:r>
              <a:rPr sz="1575" b="1" dirty="0" err="1">
                <a:solidFill>
                  <a:srgbClr val="F4F7F8"/>
                </a:solidFill>
              </a:rPr>
              <a:t>预览、</a:t>
            </a:r>
            <a:r>
              <a:rPr sz="1575" b="1" dirty="0" err="1" smtClean="0">
                <a:solidFill>
                  <a:srgbClr val="F4F7F8"/>
                </a:solidFill>
              </a:rPr>
              <a:t>成片与</a:t>
            </a:r>
            <a:r>
              <a:rPr lang="zh-CN" altLang="en-US" sz="1575" b="1" dirty="0" smtClean="0">
                <a:solidFill>
                  <a:srgbClr val="F4F7F8"/>
                </a:solidFill>
              </a:rPr>
              <a:t>完整工程</a:t>
            </a:r>
            <a:r>
              <a:rPr sz="1575" b="1" dirty="0" err="1" smtClean="0">
                <a:solidFill>
                  <a:srgbClr val="F4F7F8"/>
                </a:solidFill>
              </a:rPr>
              <a:t>回传</a:t>
            </a:r>
            <a:endParaRPr sz="1575" b="1" dirty="0">
              <a:solidFill>
                <a:srgbClr val="F4F7F8"/>
              </a:solidFill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="" xmlns:a16="http://schemas.microsoft.com/office/drawing/2014/main" id="{C4D6A0DB-2A18-4E02-868B-318426AB30F9}"/>
              </a:ext>
            </a:extLst>
          </p:cNvPr>
          <p:cNvSpPr>
            <a:spLocks noGrp="1"/>
          </p:cNvSpPr>
          <p:nvPr/>
        </p:nvSpPr>
        <p:spPr>
          <a:xfrm>
            <a:off x="7506731" y="2343150"/>
            <a:ext cx="4269258" cy="2272099"/>
          </a:xfrm>
          <a:prstGeom prst="roundRect">
            <a:avLst>
              <a:gd name="adj" fmla="val 16667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260" y="2623148"/>
            <a:ext cx="3886200" cy="171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8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="" xmlns:a16="http://schemas.microsoft.com/office/drawing/2014/main" id="{2914ED6D-47E8-40F9-A5DB-6DE2104710A7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8FF00"/>
                </a:solidFill>
              </a:defRPr>
            </a:pPr>
            <a:r>
              <a:rPr sz="975" b="1" dirty="0">
                <a:solidFill>
                  <a:srgbClr val="B8FF00"/>
                </a:solidFill>
              </a:rPr>
              <a:t>CASE </a:t>
            </a:r>
            <a:r>
              <a:rPr sz="975" b="1" dirty="0" smtClean="0">
                <a:solidFill>
                  <a:srgbClr val="B8FF00"/>
                </a:solidFill>
              </a:rPr>
              <a:t>02</a:t>
            </a:r>
            <a:endParaRPr sz="975" b="1" dirty="0">
              <a:solidFill>
                <a:srgbClr val="B8FF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9C7271FF-B6F6-43D0-800E-6405295448F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4F7F8"/>
                </a:solidFill>
              </a:defRPr>
            </a:pPr>
            <a:r>
              <a:rPr lang="en-US" sz="2850" b="1" dirty="0" smtClean="0">
                <a:solidFill>
                  <a:srgbClr val="F4F7F8"/>
                </a:solidFill>
              </a:rPr>
              <a:t>T</a:t>
            </a:r>
            <a:r>
              <a:rPr lang="en-US" altLang="zh-CN" sz="2850" b="1" dirty="0" smtClean="0">
                <a:solidFill>
                  <a:srgbClr val="F4F7F8"/>
                </a:solidFill>
              </a:rPr>
              <a:t>arget1</a:t>
            </a:r>
            <a:r>
              <a:rPr lang="zh-CN" altLang="en-US" sz="2850" b="1" dirty="0" smtClean="0">
                <a:solidFill>
                  <a:srgbClr val="F4F7F8"/>
                </a:solidFill>
              </a:rPr>
              <a:t>：平台可调用的渲染节点</a:t>
            </a:r>
            <a:endParaRPr sz="2850" b="1" dirty="0">
              <a:solidFill>
                <a:srgbClr val="F4F7F8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50885AB8-BCB7-4581-A558-6FAD951CF501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5A0AA"/>
                </a:solidFill>
              </a:defRPr>
            </a:pPr>
            <a:r>
              <a:rPr lang="zh-CN" altLang="en-US" sz="1350" dirty="0" smtClean="0">
                <a:solidFill>
                  <a:srgbClr val="95A0AA"/>
                </a:solidFill>
              </a:rPr>
              <a:t>基于 </a:t>
            </a:r>
            <a:r>
              <a:rPr lang="en-US" altLang="zh-CN" sz="1350" dirty="0" err="1" smtClean="0">
                <a:solidFill>
                  <a:srgbClr val="95A0AA"/>
                </a:solidFill>
              </a:rPr>
              <a:t>Nexrender</a:t>
            </a:r>
            <a:r>
              <a:rPr lang="en-US" altLang="zh-CN" sz="1350" dirty="0" smtClean="0">
                <a:solidFill>
                  <a:srgbClr val="95A0AA"/>
                </a:solidFill>
              </a:rPr>
              <a:t> </a:t>
            </a:r>
            <a:r>
              <a:rPr lang="zh-CN" altLang="en-US" sz="1350" dirty="0" smtClean="0">
                <a:solidFill>
                  <a:srgbClr val="95A0AA"/>
                </a:solidFill>
              </a:rPr>
              <a:t>自动渲染框架，实现平台调用渲染机处理 </a:t>
            </a:r>
            <a:r>
              <a:rPr lang="en-US" altLang="zh-CN" sz="1350" dirty="0" smtClean="0">
                <a:solidFill>
                  <a:srgbClr val="95A0AA"/>
                </a:solidFill>
              </a:rPr>
              <a:t>AE </a:t>
            </a:r>
            <a:r>
              <a:rPr lang="zh-CN" altLang="en-US" sz="1350" dirty="0" smtClean="0">
                <a:solidFill>
                  <a:srgbClr val="95A0AA"/>
                </a:solidFill>
              </a:rPr>
              <a:t>工程，无需使用者“转移阵地”或远程控制渲染机。</a:t>
            </a:r>
            <a:endParaRPr sz="1350" b="0" dirty="0">
              <a:solidFill>
                <a:srgbClr val="95A0AA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8FE1E37-4721-47FC-A834-98614AC57954}"/>
              </a:ext>
            </a:extLst>
          </p:cNvPr>
          <p:cNvSpPr>
            <a:spLocks noGrp="1"/>
          </p:cNvSpPr>
          <p:nvPr/>
        </p:nvSpPr>
        <p:spPr>
          <a:xfrm>
            <a:off x="590550" y="1600200"/>
            <a:ext cx="11010900" cy="9525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="" xmlns:a16="http://schemas.microsoft.com/office/drawing/2014/main" id="{A9850F7A-213F-4BC8-BE14-FB11E261EF8A}"/>
              </a:ext>
            </a:extLst>
          </p:cNvPr>
          <p:cNvSpPr>
            <a:spLocks noGrp="1"/>
          </p:cNvSpPr>
          <p:nvPr/>
        </p:nvSpPr>
        <p:spPr>
          <a:xfrm>
            <a:off x="1661832" y="3668757"/>
            <a:ext cx="8262097" cy="3045808"/>
          </a:xfrm>
          <a:prstGeom prst="roundRect">
            <a:avLst>
              <a:gd name="adj" fmla="val 5825"/>
            </a:avLst>
          </a:prstGeom>
          <a:solidFill>
            <a:srgbClr val="151B22"/>
          </a:solidFill>
          <a:ln w="9525">
            <a:solidFill>
              <a:srgbClr val="2A343E"/>
            </a:solidFill>
            <a:prstDash val="solid"/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66339" y="3771668"/>
            <a:ext cx="2060202" cy="2819572"/>
          </a:xfrm>
          <a:prstGeom prst="roundRect">
            <a:avLst>
              <a:gd name="adj" fmla="val 4124"/>
            </a:avLst>
          </a:prstGeom>
        </p:spPr>
      </p:pic>
      <p:sp>
        <p:nvSpPr>
          <p:cNvPr id="8" name="圆角矩形 7">
            <a:extLst>
              <a:ext uri="{FF2B5EF4-FFF2-40B4-BE49-F238E27FC236}">
                <a16:creationId xmlns="" xmlns:a16="http://schemas.microsoft.com/office/drawing/2014/main" id="{491DE8CF-F1A3-4914-B031-8B3762DF4FE2}"/>
              </a:ext>
            </a:extLst>
          </p:cNvPr>
          <p:cNvSpPr>
            <a:spLocks noGrp="1"/>
          </p:cNvSpPr>
          <p:nvPr/>
        </p:nvSpPr>
        <p:spPr>
          <a:xfrm>
            <a:off x="1839445" y="1866900"/>
            <a:ext cx="1390650" cy="1504950"/>
          </a:xfrm>
          <a:prstGeom prst="roundRect">
            <a:avLst>
              <a:gd name="adj" fmla="val 8219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7393231E-C52A-4A98-B385-6807EDF4C10C}"/>
              </a:ext>
            </a:extLst>
          </p:cNvPr>
          <p:cNvSpPr>
            <a:spLocks noGrp="1"/>
          </p:cNvSpPr>
          <p:nvPr/>
        </p:nvSpPr>
        <p:spPr>
          <a:xfrm>
            <a:off x="1991845" y="20193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B8FF00"/>
                </a:solidFill>
              </a:defRPr>
            </a:pPr>
            <a:r>
              <a:rPr sz="1125" b="1">
                <a:solidFill>
                  <a:srgbClr val="B8FF00"/>
                </a:solidFill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E5B80495-E6EB-4707-8A62-3B6A0832287E}"/>
              </a:ext>
            </a:extLst>
          </p:cNvPr>
          <p:cNvSpPr>
            <a:spLocks noGrp="1"/>
          </p:cNvSpPr>
          <p:nvPr/>
        </p:nvSpPr>
        <p:spPr>
          <a:xfrm>
            <a:off x="1991845" y="2438400"/>
            <a:ext cx="1104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4F7F8"/>
                </a:solidFill>
              </a:defRPr>
            </a:pPr>
            <a:r>
              <a:rPr lang="zh-CN" altLang="en-US" sz="1425" b="1" dirty="0" smtClean="0">
                <a:solidFill>
                  <a:srgbClr val="F4F7F8"/>
                </a:solidFill>
              </a:rPr>
              <a:t>前端</a:t>
            </a:r>
            <a:r>
              <a:rPr sz="1425" b="1" dirty="0" err="1" smtClean="0">
                <a:solidFill>
                  <a:srgbClr val="F4F7F8"/>
                </a:solidFill>
              </a:rPr>
              <a:t>提交</a:t>
            </a:r>
            <a:endParaRPr sz="1425" b="1" dirty="0">
              <a:solidFill>
                <a:srgbClr val="F4F7F8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E67A05A8-58F7-46F0-8BAC-837872409227}"/>
              </a:ext>
            </a:extLst>
          </p:cNvPr>
          <p:cNvSpPr>
            <a:spLocks noGrp="1"/>
          </p:cNvSpPr>
          <p:nvPr/>
        </p:nvSpPr>
        <p:spPr>
          <a:xfrm>
            <a:off x="1991845" y="2838450"/>
            <a:ext cx="110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5A0AA"/>
                </a:solidFill>
              </a:defRPr>
            </a:pPr>
            <a:r>
              <a:rPr lang="zh-CN" altLang="en-US" sz="1050" dirty="0" smtClean="0">
                <a:solidFill>
                  <a:srgbClr val="95A0AA"/>
                </a:solidFill>
              </a:rPr>
              <a:t>工程文件网络路径</a:t>
            </a:r>
            <a:endParaRPr sz="1050" b="0" dirty="0">
              <a:solidFill>
                <a:srgbClr val="95A0AA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81BC32EC-3601-4332-94B5-1B6EDF0421B8}"/>
              </a:ext>
            </a:extLst>
          </p:cNvPr>
          <p:cNvSpPr>
            <a:spLocks noGrp="1"/>
          </p:cNvSpPr>
          <p:nvPr/>
        </p:nvSpPr>
        <p:spPr>
          <a:xfrm>
            <a:off x="3230095" y="24384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5E6974"/>
                </a:solidFill>
              </a:defRPr>
            </a:pPr>
            <a:r>
              <a:rPr sz="1350" b="1">
                <a:solidFill>
                  <a:srgbClr val="5E6974"/>
                </a:solidFill>
              </a:rPr>
              <a:t>→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="" xmlns:a16="http://schemas.microsoft.com/office/drawing/2014/main" id="{1C4895CF-B7FE-4E50-9111-D9B6F9AC3F58}"/>
              </a:ext>
            </a:extLst>
          </p:cNvPr>
          <p:cNvSpPr>
            <a:spLocks noGrp="1"/>
          </p:cNvSpPr>
          <p:nvPr/>
        </p:nvSpPr>
        <p:spPr>
          <a:xfrm>
            <a:off x="3496795" y="1866900"/>
            <a:ext cx="1390650" cy="1504950"/>
          </a:xfrm>
          <a:prstGeom prst="roundRect">
            <a:avLst>
              <a:gd name="adj" fmla="val 8219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9B49171F-ED77-4770-AC2A-006CD54696C2}"/>
              </a:ext>
            </a:extLst>
          </p:cNvPr>
          <p:cNvSpPr>
            <a:spLocks noGrp="1"/>
          </p:cNvSpPr>
          <p:nvPr/>
        </p:nvSpPr>
        <p:spPr>
          <a:xfrm>
            <a:off x="3649195" y="20193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B8FF00"/>
                </a:solidFill>
              </a:defRPr>
            </a:pPr>
            <a:r>
              <a:rPr sz="1125" b="1">
                <a:solidFill>
                  <a:srgbClr val="B8FF00"/>
                </a:solidFill>
              </a:rPr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53C5C5B8-6CEE-4999-AD30-B9770FAFF2A6}"/>
              </a:ext>
            </a:extLst>
          </p:cNvPr>
          <p:cNvSpPr>
            <a:spLocks noGrp="1"/>
          </p:cNvSpPr>
          <p:nvPr/>
        </p:nvSpPr>
        <p:spPr>
          <a:xfrm>
            <a:off x="3649195" y="2438400"/>
            <a:ext cx="1104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4F7F8"/>
                </a:solidFill>
              </a:defRPr>
            </a:pPr>
            <a:r>
              <a:rPr lang="en-US" sz="1425" b="1" dirty="0" err="1" smtClean="0">
                <a:solidFill>
                  <a:srgbClr val="F4F7F8"/>
                </a:solidFill>
              </a:rPr>
              <a:t>F</a:t>
            </a:r>
            <a:r>
              <a:rPr lang="en-US" altLang="zh-CN" sz="1425" b="1" dirty="0" err="1" smtClean="0">
                <a:solidFill>
                  <a:srgbClr val="F4F7F8"/>
                </a:solidFill>
              </a:rPr>
              <a:t>lowX</a:t>
            </a:r>
            <a:r>
              <a:rPr lang="zh-CN" altLang="en-US" sz="1425" b="1" dirty="0" smtClean="0">
                <a:solidFill>
                  <a:srgbClr val="F4F7F8"/>
                </a:solidFill>
              </a:rPr>
              <a:t>调度</a:t>
            </a:r>
            <a:endParaRPr sz="1425" b="1" dirty="0">
              <a:solidFill>
                <a:srgbClr val="F4F7F8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631EB9D2-8933-4D62-A0CF-3360E93F8EC3}"/>
              </a:ext>
            </a:extLst>
          </p:cNvPr>
          <p:cNvSpPr>
            <a:spLocks noGrp="1"/>
          </p:cNvSpPr>
          <p:nvPr/>
        </p:nvSpPr>
        <p:spPr>
          <a:xfrm>
            <a:off x="3649195" y="2838450"/>
            <a:ext cx="110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5A0AA"/>
                </a:solidFill>
              </a:defRPr>
            </a:pPr>
            <a:r>
              <a:rPr lang="zh-CN" altLang="en-US" sz="1050" dirty="0" smtClean="0">
                <a:solidFill>
                  <a:srgbClr val="95A0AA"/>
                </a:solidFill>
              </a:rPr>
              <a:t>分发任务到渲染节点</a:t>
            </a:r>
            <a:endParaRPr sz="1050" b="0" dirty="0">
              <a:solidFill>
                <a:srgbClr val="95A0AA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B9D3C28E-F700-4072-951A-9EF68773C48A}"/>
              </a:ext>
            </a:extLst>
          </p:cNvPr>
          <p:cNvSpPr>
            <a:spLocks noGrp="1"/>
          </p:cNvSpPr>
          <p:nvPr/>
        </p:nvSpPr>
        <p:spPr>
          <a:xfrm>
            <a:off x="4887445" y="24384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5E6974"/>
                </a:solidFill>
              </a:defRPr>
            </a:pPr>
            <a:r>
              <a:rPr sz="1350" b="1">
                <a:solidFill>
                  <a:srgbClr val="5E6974"/>
                </a:solidFill>
              </a:rPr>
              <a:t>→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="" xmlns:a16="http://schemas.microsoft.com/office/drawing/2014/main" id="{498DCFC8-0F4D-4357-AABA-21F0AE119C94}"/>
              </a:ext>
            </a:extLst>
          </p:cNvPr>
          <p:cNvSpPr>
            <a:spLocks noGrp="1"/>
          </p:cNvSpPr>
          <p:nvPr/>
        </p:nvSpPr>
        <p:spPr>
          <a:xfrm>
            <a:off x="5154145" y="1866900"/>
            <a:ext cx="1390650" cy="1504950"/>
          </a:xfrm>
          <a:prstGeom prst="roundRect">
            <a:avLst>
              <a:gd name="adj" fmla="val 8219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53CDC478-F5E7-4818-96F4-90B9A3049346}"/>
              </a:ext>
            </a:extLst>
          </p:cNvPr>
          <p:cNvSpPr>
            <a:spLocks noGrp="1"/>
          </p:cNvSpPr>
          <p:nvPr/>
        </p:nvSpPr>
        <p:spPr>
          <a:xfrm>
            <a:off x="5306545" y="20193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B8FF00"/>
                </a:solidFill>
              </a:defRPr>
            </a:pPr>
            <a:r>
              <a:rPr sz="1125" b="1">
                <a:solidFill>
                  <a:srgbClr val="B8FF00"/>
                </a:solidFill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AAD95D98-21DB-42E3-B29B-492C4C0067B7}"/>
              </a:ext>
            </a:extLst>
          </p:cNvPr>
          <p:cNvSpPr>
            <a:spLocks noGrp="1"/>
          </p:cNvSpPr>
          <p:nvPr/>
        </p:nvSpPr>
        <p:spPr>
          <a:xfrm>
            <a:off x="5306545" y="2438400"/>
            <a:ext cx="1104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4F7F8"/>
                </a:solidFill>
              </a:defRPr>
            </a:pPr>
            <a:r>
              <a:rPr lang="en-US" sz="1425" b="1" dirty="0" smtClean="0">
                <a:solidFill>
                  <a:srgbClr val="F4F7F8"/>
                </a:solidFill>
              </a:rPr>
              <a:t>AEP </a:t>
            </a:r>
            <a:r>
              <a:rPr lang="zh-CN" altLang="en-US" sz="1425" b="1" dirty="0" smtClean="0">
                <a:solidFill>
                  <a:srgbClr val="F4F7F8"/>
                </a:solidFill>
              </a:rPr>
              <a:t>解析</a:t>
            </a:r>
            <a:endParaRPr sz="1425" b="1" dirty="0">
              <a:solidFill>
                <a:srgbClr val="F4F7F8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19454111-905E-466F-9F12-84A129C89451}"/>
              </a:ext>
            </a:extLst>
          </p:cNvPr>
          <p:cNvSpPr>
            <a:spLocks noGrp="1"/>
          </p:cNvSpPr>
          <p:nvPr/>
        </p:nvSpPr>
        <p:spPr>
          <a:xfrm>
            <a:off x="5306545" y="2838450"/>
            <a:ext cx="110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5A0AA"/>
                </a:solidFill>
              </a:defRPr>
            </a:pPr>
            <a:r>
              <a:rPr lang="zh-CN" altLang="en-US" sz="1050" dirty="0" smtClean="0">
                <a:solidFill>
                  <a:srgbClr val="95A0AA"/>
                </a:solidFill>
              </a:rPr>
              <a:t>自动解析替换信息</a:t>
            </a:r>
            <a:endParaRPr sz="1050" b="0" dirty="0">
              <a:solidFill>
                <a:srgbClr val="95A0AA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EABF8FCE-C33A-44B1-B450-F957E366F168}"/>
              </a:ext>
            </a:extLst>
          </p:cNvPr>
          <p:cNvSpPr>
            <a:spLocks noGrp="1"/>
          </p:cNvSpPr>
          <p:nvPr/>
        </p:nvSpPr>
        <p:spPr>
          <a:xfrm>
            <a:off x="6544795" y="24384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5E6974"/>
                </a:solidFill>
              </a:defRPr>
            </a:pPr>
            <a:r>
              <a:rPr sz="1350" b="1">
                <a:solidFill>
                  <a:srgbClr val="5E6974"/>
                </a:solidFill>
              </a:rPr>
              <a:t>→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="" xmlns:a16="http://schemas.microsoft.com/office/drawing/2014/main" id="{28954AE8-6E31-4EA3-A4CC-09A26A68585E}"/>
              </a:ext>
            </a:extLst>
          </p:cNvPr>
          <p:cNvSpPr>
            <a:spLocks noGrp="1"/>
          </p:cNvSpPr>
          <p:nvPr/>
        </p:nvSpPr>
        <p:spPr>
          <a:xfrm>
            <a:off x="6811495" y="1866900"/>
            <a:ext cx="1390650" cy="1504950"/>
          </a:xfrm>
          <a:prstGeom prst="roundRect">
            <a:avLst>
              <a:gd name="adj" fmla="val 8219"/>
            </a:avLst>
          </a:prstGeom>
          <a:solidFill>
            <a:srgbClr val="11161C"/>
          </a:solidFill>
          <a:ln w="9525">
            <a:solidFill>
              <a:srgbClr val="2A343E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3C47CDE3-C668-484B-9052-9D28B007424C}"/>
              </a:ext>
            </a:extLst>
          </p:cNvPr>
          <p:cNvSpPr>
            <a:spLocks noGrp="1"/>
          </p:cNvSpPr>
          <p:nvPr/>
        </p:nvSpPr>
        <p:spPr>
          <a:xfrm>
            <a:off x="6963895" y="20193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B8FF00"/>
                </a:solidFill>
              </a:defRPr>
            </a:pPr>
            <a:r>
              <a:rPr sz="1125" b="1">
                <a:solidFill>
                  <a:srgbClr val="B8FF00"/>
                </a:solidFill>
              </a:rPr>
              <a:t>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8F4B3D8A-D88B-422A-9249-4B3581CD8663}"/>
              </a:ext>
            </a:extLst>
          </p:cNvPr>
          <p:cNvSpPr>
            <a:spLocks noGrp="1"/>
          </p:cNvSpPr>
          <p:nvPr/>
        </p:nvSpPr>
        <p:spPr>
          <a:xfrm>
            <a:off x="6963895" y="2438400"/>
            <a:ext cx="1104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4F7F8"/>
                </a:solidFill>
              </a:defRPr>
            </a:pPr>
            <a:r>
              <a:rPr sz="1425" b="1" dirty="0" err="1">
                <a:solidFill>
                  <a:srgbClr val="F4F7F8"/>
                </a:solidFill>
              </a:rPr>
              <a:t>节点执行</a:t>
            </a:r>
            <a:endParaRPr sz="1425" b="1" dirty="0">
              <a:solidFill>
                <a:srgbClr val="F4F7F8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15A7DEF4-EF1D-43AE-AEAE-B9AAE7C5F7E8}"/>
              </a:ext>
            </a:extLst>
          </p:cNvPr>
          <p:cNvSpPr>
            <a:spLocks noGrp="1"/>
          </p:cNvSpPr>
          <p:nvPr/>
        </p:nvSpPr>
        <p:spPr>
          <a:xfrm>
            <a:off x="6963895" y="2838450"/>
            <a:ext cx="110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5A0AA"/>
                </a:solidFill>
              </a:defRPr>
            </a:pPr>
            <a:r>
              <a:rPr lang="zh-CN" altLang="en-US" sz="1050" dirty="0" smtClean="0">
                <a:solidFill>
                  <a:srgbClr val="95A0AA"/>
                </a:solidFill>
              </a:rPr>
              <a:t>拉取网络文件，任务处理</a:t>
            </a:r>
            <a:endParaRPr sz="1050" b="0" dirty="0">
              <a:solidFill>
                <a:srgbClr val="95A0AA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DF636E62-EAE0-4254-B87C-65AF1884B574}"/>
              </a:ext>
            </a:extLst>
          </p:cNvPr>
          <p:cNvSpPr>
            <a:spLocks noGrp="1"/>
          </p:cNvSpPr>
          <p:nvPr/>
        </p:nvSpPr>
        <p:spPr>
          <a:xfrm>
            <a:off x="8202145" y="24384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5E6974"/>
                </a:solidFill>
              </a:defRPr>
            </a:pPr>
            <a:r>
              <a:rPr sz="1350" b="1">
                <a:solidFill>
                  <a:srgbClr val="5E6974"/>
                </a:solidFill>
              </a:rPr>
              <a:t>→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="" xmlns:a16="http://schemas.microsoft.com/office/drawing/2014/main" id="{E9F648E3-E74B-40E8-BCD1-CD757604D47E}"/>
              </a:ext>
            </a:extLst>
          </p:cNvPr>
          <p:cNvSpPr>
            <a:spLocks noGrp="1"/>
          </p:cNvSpPr>
          <p:nvPr/>
        </p:nvSpPr>
        <p:spPr>
          <a:xfrm>
            <a:off x="8468845" y="1866900"/>
            <a:ext cx="1390650" cy="1504950"/>
          </a:xfrm>
          <a:prstGeom prst="roundRect">
            <a:avLst>
              <a:gd name="adj" fmla="val 8219"/>
            </a:avLst>
          </a:prstGeom>
          <a:solidFill>
            <a:srgbClr val="132028"/>
          </a:solidFill>
          <a:ln w="9525">
            <a:solidFill>
              <a:srgbClr val="43D6E8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="" xmlns:a16="http://schemas.microsoft.com/office/drawing/2014/main" id="{69C7E530-C6C3-45B7-9F6B-2DC7494B168A}"/>
              </a:ext>
            </a:extLst>
          </p:cNvPr>
          <p:cNvSpPr>
            <a:spLocks noGrp="1"/>
          </p:cNvSpPr>
          <p:nvPr/>
        </p:nvSpPr>
        <p:spPr>
          <a:xfrm>
            <a:off x="8621245" y="20193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3D6E8"/>
                </a:solidFill>
              </a:defRPr>
            </a:pPr>
            <a:r>
              <a:rPr sz="1125" b="1">
                <a:solidFill>
                  <a:srgbClr val="43D6E8"/>
                </a:solidFill>
              </a:rPr>
              <a:t>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="" xmlns:a16="http://schemas.microsoft.com/office/drawing/2014/main" id="{C49048B3-4C2E-42C2-A1F7-EDDFA29FB3ED}"/>
              </a:ext>
            </a:extLst>
          </p:cNvPr>
          <p:cNvSpPr>
            <a:spLocks noGrp="1"/>
          </p:cNvSpPr>
          <p:nvPr/>
        </p:nvSpPr>
        <p:spPr>
          <a:xfrm>
            <a:off x="8621245" y="2438400"/>
            <a:ext cx="1104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4F7F8"/>
                </a:solidFill>
              </a:defRPr>
            </a:pPr>
            <a:r>
              <a:rPr sz="1425" b="1">
                <a:solidFill>
                  <a:srgbClr val="F4F7F8"/>
                </a:solidFill>
              </a:rPr>
              <a:t>结果回传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="" xmlns:a16="http://schemas.microsoft.com/office/drawing/2014/main" id="{80379E7B-16B6-4734-9DE6-EAA792C01D45}"/>
              </a:ext>
            </a:extLst>
          </p:cNvPr>
          <p:cNvSpPr>
            <a:spLocks noGrp="1"/>
          </p:cNvSpPr>
          <p:nvPr/>
        </p:nvSpPr>
        <p:spPr>
          <a:xfrm>
            <a:off x="8621245" y="2838450"/>
            <a:ext cx="110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5A0AA"/>
                </a:solidFill>
              </a:defRPr>
            </a:pPr>
            <a:r>
              <a:rPr sz="1050" b="0" dirty="0" err="1">
                <a:solidFill>
                  <a:srgbClr val="95A0AA"/>
                </a:solidFill>
              </a:rPr>
              <a:t>预览</a:t>
            </a:r>
            <a:r>
              <a:rPr sz="1050" b="0" dirty="0">
                <a:solidFill>
                  <a:srgbClr val="95A0AA"/>
                </a:solidFill>
              </a:rPr>
              <a:t> + </a:t>
            </a:r>
            <a:r>
              <a:rPr sz="1050" b="0" dirty="0" err="1">
                <a:solidFill>
                  <a:srgbClr val="95A0AA"/>
                </a:solidFill>
              </a:rPr>
              <a:t>成片</a:t>
            </a:r>
            <a:r>
              <a:rPr sz="1050" b="0" dirty="0">
                <a:solidFill>
                  <a:srgbClr val="95A0AA"/>
                </a:solidFill>
              </a:rPr>
              <a:t> + </a:t>
            </a:r>
            <a:r>
              <a:rPr lang="zh-CN" altLang="en-US" sz="1050" dirty="0" smtClean="0">
                <a:solidFill>
                  <a:srgbClr val="95A0AA"/>
                </a:solidFill>
              </a:rPr>
              <a:t>工程文件</a:t>
            </a:r>
            <a:endParaRPr sz="1050" b="0" dirty="0">
              <a:solidFill>
                <a:srgbClr val="95A0AA"/>
              </a:solidFill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672" y="3771668"/>
            <a:ext cx="5601042" cy="281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8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>
            <a:extLst>
              <a:ext uri="{FF2B5EF4-FFF2-40B4-BE49-F238E27FC236}">
                <a16:creationId xmlns="" xmlns:a16="http://schemas.microsoft.com/office/drawing/2014/main" id="{A9850F7A-213F-4BC8-BE14-FB11E261EF8A}"/>
              </a:ext>
            </a:extLst>
          </p:cNvPr>
          <p:cNvSpPr>
            <a:spLocks noGrp="1"/>
          </p:cNvSpPr>
          <p:nvPr/>
        </p:nvSpPr>
        <p:spPr>
          <a:xfrm>
            <a:off x="702608" y="1952625"/>
            <a:ext cx="10700498" cy="4206128"/>
          </a:xfrm>
          <a:prstGeom prst="roundRect">
            <a:avLst>
              <a:gd name="adj" fmla="val 5825"/>
            </a:avLst>
          </a:prstGeom>
          <a:solidFill>
            <a:srgbClr val="151B22"/>
          </a:solidFill>
          <a:ln w="9525">
            <a:solidFill>
              <a:srgbClr val="2A343E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="" xmlns:a16="http://schemas.microsoft.com/office/drawing/2014/main" id="{2914ED6D-47E8-40F9-A5DB-6DE2104710A7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8FF00"/>
                </a:solidFill>
              </a:defRPr>
            </a:pPr>
            <a:r>
              <a:rPr sz="975" b="1" dirty="0">
                <a:solidFill>
                  <a:srgbClr val="B8FF00"/>
                </a:solidFill>
              </a:rPr>
              <a:t>CASE </a:t>
            </a:r>
            <a:r>
              <a:rPr sz="975" b="1" dirty="0" smtClean="0">
                <a:solidFill>
                  <a:srgbClr val="B8FF00"/>
                </a:solidFill>
              </a:rPr>
              <a:t>02</a:t>
            </a:r>
            <a:endParaRPr sz="975" b="1" dirty="0">
              <a:solidFill>
                <a:srgbClr val="B8FF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9C7271FF-B6F6-43D0-800E-6405295448F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4F7F8"/>
                </a:solidFill>
              </a:defRPr>
            </a:pPr>
            <a:r>
              <a:rPr lang="en-US" sz="2850" b="1" dirty="0" smtClean="0">
                <a:solidFill>
                  <a:srgbClr val="F4F7F8"/>
                </a:solidFill>
              </a:rPr>
              <a:t>T</a:t>
            </a:r>
            <a:r>
              <a:rPr lang="en-US" altLang="zh-CN" sz="2850" b="1" dirty="0" smtClean="0">
                <a:solidFill>
                  <a:srgbClr val="F4F7F8"/>
                </a:solidFill>
              </a:rPr>
              <a:t>arget2</a:t>
            </a:r>
            <a:r>
              <a:rPr lang="zh-CN" altLang="en-US" sz="2850" b="1" dirty="0" smtClean="0">
                <a:solidFill>
                  <a:srgbClr val="F4F7F8"/>
                </a:solidFill>
              </a:rPr>
              <a:t>：素材自动替换消除重复劳动</a:t>
            </a:r>
            <a:endParaRPr sz="2850" b="1" dirty="0">
              <a:solidFill>
                <a:srgbClr val="F4F7F8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50885AB8-BCB7-4581-A558-6FAD951CF501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5A0AA"/>
                </a:solidFill>
              </a:defRPr>
            </a:pPr>
            <a:r>
              <a:rPr lang="zh-CN" altLang="en-US" sz="1350" dirty="0" smtClean="0">
                <a:solidFill>
                  <a:srgbClr val="95A0AA"/>
                </a:solidFill>
              </a:rPr>
              <a:t>通过约定 </a:t>
            </a:r>
            <a:r>
              <a:rPr lang="en-US" altLang="zh-CN" sz="1350" dirty="0" smtClean="0">
                <a:solidFill>
                  <a:srgbClr val="95A0AA"/>
                </a:solidFill>
              </a:rPr>
              <a:t>AEP </a:t>
            </a:r>
            <a:r>
              <a:rPr lang="zh-CN" altLang="en-US" sz="1350" dirty="0" smtClean="0">
                <a:solidFill>
                  <a:srgbClr val="95A0AA"/>
                </a:solidFill>
              </a:rPr>
              <a:t>工程和素材文件的组织与命名，实现素材自动识别替换，减少人工逐一替换素材操作。</a:t>
            </a:r>
            <a:endParaRPr sz="1350" b="0" dirty="0">
              <a:solidFill>
                <a:srgbClr val="95A0AA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8FE1E37-4721-47FC-A834-98614AC57954}"/>
              </a:ext>
            </a:extLst>
          </p:cNvPr>
          <p:cNvSpPr>
            <a:spLocks noGrp="1"/>
          </p:cNvSpPr>
          <p:nvPr/>
        </p:nvSpPr>
        <p:spPr>
          <a:xfrm>
            <a:off x="590550" y="1600200"/>
            <a:ext cx="11010900" cy="9525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41" y="2144806"/>
            <a:ext cx="5043707" cy="3799354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941" y="2144805"/>
            <a:ext cx="4679576" cy="381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806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A1374470-4A72-4589-AFEC-31278772D8E1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8FF00"/>
                </a:solidFill>
              </a:defRPr>
            </a:pPr>
            <a:r>
              <a:rPr sz="975" b="1">
                <a:solidFill>
                  <a:srgbClr val="B8FF00"/>
                </a:solidFill>
              </a:rPr>
              <a:t>SUMMARY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104FB387-EF9F-48CA-B9AE-E452F6280BBD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4F7F8"/>
                </a:solidFill>
              </a:defRPr>
            </a:pPr>
            <a:r>
              <a:rPr sz="2850" b="1">
                <a:solidFill>
                  <a:srgbClr val="F4F7F8"/>
                </a:solidFill>
              </a:rPr>
              <a:t>两个案例，证明从需求到生产系统的完整能力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532C8951-FD6F-4094-8006-EFE7EB1F005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5A0AA"/>
                </a:solidFill>
              </a:defRPr>
            </a:pPr>
            <a:r>
              <a:rPr sz="1350" b="0" dirty="0" err="1">
                <a:solidFill>
                  <a:srgbClr val="95A0AA"/>
                </a:solidFill>
              </a:rPr>
              <a:t>研究、产品、算法与本地执行不是分散功能，而是一条连续的交付链路</a:t>
            </a:r>
            <a:endParaRPr sz="1350" b="0" dirty="0">
              <a:solidFill>
                <a:srgbClr val="95A0AA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C82CB7B5-E331-4743-B3C0-D04F8844700B}"/>
              </a:ext>
            </a:extLst>
          </p:cNvPr>
          <p:cNvSpPr>
            <a:spLocks noGrp="1"/>
          </p:cNvSpPr>
          <p:nvPr/>
        </p:nvSpPr>
        <p:spPr>
          <a:xfrm>
            <a:off x="590550" y="1600200"/>
            <a:ext cx="11010900" cy="9525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2E577561-1890-4C71-A3A7-B124A22E83CA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B8FF00"/>
                </a:solidFill>
              </a:defRPr>
            </a:pPr>
            <a:r>
              <a:rPr sz="2250" b="1">
                <a:solidFill>
                  <a:srgbClr val="B8FF00"/>
                </a:solidFill>
              </a:rPr>
              <a:t>游戏回流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381C9658-998E-4ACB-88F0-594C710256F4}"/>
              </a:ext>
            </a:extLst>
          </p:cNvPr>
          <p:cNvSpPr>
            <a:spLocks noGrp="1"/>
          </p:cNvSpPr>
          <p:nvPr/>
        </p:nvSpPr>
        <p:spPr>
          <a:xfrm>
            <a:off x="666749" y="2800350"/>
            <a:ext cx="467621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4F7F8"/>
                </a:solidFill>
              </a:defRPr>
            </a:pPr>
            <a:r>
              <a:rPr sz="1500" b="0" dirty="0" err="1" smtClean="0">
                <a:solidFill>
                  <a:srgbClr val="F4F7F8"/>
                </a:solidFill>
              </a:rPr>
              <a:t>提示词</a:t>
            </a:r>
            <a:r>
              <a:rPr sz="1500" b="0" dirty="0" err="1">
                <a:solidFill>
                  <a:srgbClr val="F4F7F8"/>
                </a:solidFill>
              </a:rPr>
              <a:t>、渠道规则、批量任务、</a:t>
            </a:r>
            <a:r>
              <a:rPr sz="1500" b="0" dirty="0" err="1" smtClean="0">
                <a:solidFill>
                  <a:srgbClr val="F4F7F8"/>
                </a:solidFill>
              </a:rPr>
              <a:t>审核连成生产闭环</a:t>
            </a:r>
            <a:r>
              <a:rPr sz="1500" b="0" dirty="0" smtClean="0">
                <a:solidFill>
                  <a:srgbClr val="F4F7F8"/>
                </a:solidFill>
              </a:rPr>
              <a:t>。</a:t>
            </a:r>
            <a:endParaRPr sz="1500" b="0" dirty="0">
              <a:solidFill>
                <a:srgbClr val="F4F7F8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B2901CB3-1EAC-4B0B-AF00-396ED4C399CD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4F7F8"/>
                </a:solidFill>
              </a:defRPr>
            </a:pPr>
            <a:r>
              <a:rPr sz="1650" b="1">
                <a:solidFill>
                  <a:srgbClr val="F4F7F8"/>
                </a:solidFill>
              </a:rPr>
              <a:t>研究驱动的产品化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B737165F-889F-4B87-8E2C-B7677A35FB6C}"/>
              </a:ext>
            </a:extLst>
          </p:cNvPr>
          <p:cNvSpPr>
            <a:spLocks noGrp="1"/>
          </p:cNvSpPr>
          <p:nvPr/>
        </p:nvSpPr>
        <p:spPr>
          <a:xfrm>
            <a:off x="6038850" y="2133600"/>
            <a:ext cx="9525" cy="2667000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22C45547-093A-42F4-8A71-9C4D0DD7F8EF}"/>
              </a:ext>
            </a:extLst>
          </p:cNvPr>
          <p:cNvSpPr>
            <a:spLocks noGrp="1"/>
          </p:cNvSpPr>
          <p:nvPr/>
        </p:nvSpPr>
        <p:spPr>
          <a:xfrm>
            <a:off x="6553200" y="22098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43D6E8"/>
                </a:solidFill>
              </a:defRPr>
            </a:pPr>
            <a:r>
              <a:rPr sz="2250" b="1">
                <a:solidFill>
                  <a:srgbClr val="43D6E8"/>
                </a:solidFill>
              </a:rPr>
              <a:t>大屏渲染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4BB19727-E8C6-4A07-BD9C-D60D7EF5BCDB}"/>
              </a:ext>
            </a:extLst>
          </p:cNvPr>
          <p:cNvSpPr>
            <a:spLocks noGrp="1"/>
          </p:cNvSpPr>
          <p:nvPr/>
        </p:nvSpPr>
        <p:spPr>
          <a:xfrm>
            <a:off x="6553200" y="2800350"/>
            <a:ext cx="4476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4F7F8"/>
                </a:solidFill>
              </a:defRPr>
            </a:pPr>
            <a:r>
              <a:rPr sz="1500" b="0" dirty="0" err="1">
                <a:solidFill>
                  <a:srgbClr val="F4F7F8"/>
                </a:solidFill>
              </a:rPr>
              <a:t>用平台调度本地节点</a:t>
            </a:r>
            <a:r>
              <a:rPr sz="1500" b="0" dirty="0" smtClean="0">
                <a:solidFill>
                  <a:srgbClr val="F4F7F8"/>
                </a:solidFill>
              </a:rPr>
              <a:t>，</a:t>
            </a:r>
            <a:r>
              <a:rPr lang="zh-CN" altLang="en-US" sz="1500" b="0" dirty="0" smtClean="0">
                <a:solidFill>
                  <a:srgbClr val="F4F7F8"/>
                </a:solidFill>
              </a:rPr>
              <a:t>自动解析</a:t>
            </a:r>
            <a:r>
              <a:rPr sz="1500" b="0" dirty="0" smtClean="0">
                <a:solidFill>
                  <a:srgbClr val="F4F7F8"/>
                </a:solidFill>
              </a:rPr>
              <a:t> </a:t>
            </a:r>
            <a:r>
              <a:rPr sz="1500" b="0" dirty="0">
                <a:solidFill>
                  <a:srgbClr val="F4F7F8"/>
                </a:solidFill>
              </a:rPr>
              <a:t>AEP、AE </a:t>
            </a:r>
            <a:r>
              <a:rPr sz="1500" b="0" dirty="0" err="1" smtClean="0">
                <a:solidFill>
                  <a:srgbClr val="F4F7F8"/>
                </a:solidFill>
              </a:rPr>
              <a:t>自动替换渲染并回传结果</a:t>
            </a:r>
            <a:r>
              <a:rPr sz="1500" b="0" dirty="0">
                <a:solidFill>
                  <a:srgbClr val="F4F7F8"/>
                </a:solidFill>
              </a:rPr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573B9916-07EF-4DAE-9A2B-386FFB3437BA}"/>
              </a:ext>
            </a:extLst>
          </p:cNvPr>
          <p:cNvSpPr>
            <a:spLocks noGrp="1"/>
          </p:cNvSpPr>
          <p:nvPr/>
        </p:nvSpPr>
        <p:spPr>
          <a:xfrm>
            <a:off x="6553200" y="41910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4F7F8"/>
                </a:solidFill>
              </a:defRPr>
            </a:pPr>
            <a:r>
              <a:rPr sz="1650" b="1">
                <a:solidFill>
                  <a:srgbClr val="F4F7F8"/>
                </a:solidFill>
              </a:rPr>
              <a:t>本地执行基础设施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87DD7C8D-DD88-427A-9BB0-3DC73053F3AF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10287000" cy="9525"/>
          </a:xfrm>
          <a:prstGeom prst="rect">
            <a:avLst/>
          </a:prstGeom>
          <a:solidFill>
            <a:srgbClr val="2A343E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D80FDD3A-DFE4-48BB-B92D-FF3F2477794D}"/>
              </a:ext>
            </a:extLst>
          </p:cNvPr>
          <p:cNvSpPr>
            <a:spLocks noGrp="1"/>
          </p:cNvSpPr>
          <p:nvPr/>
        </p:nvSpPr>
        <p:spPr>
          <a:xfrm>
            <a:off x="666750" y="54864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B8FF00"/>
                </a:solidFill>
              </a:defRPr>
            </a:pPr>
            <a:r>
              <a:rPr sz="1050" b="1">
                <a:solidFill>
                  <a:srgbClr val="B8FF00"/>
                </a:solidFill>
              </a:rPr>
              <a:t>需求澄清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ADB86D6F-AB67-429A-9DE4-245EE43547A7}"/>
              </a:ext>
            </a:extLst>
          </p:cNvPr>
          <p:cNvSpPr>
            <a:spLocks noGrp="1"/>
          </p:cNvSpPr>
          <p:nvPr/>
        </p:nvSpPr>
        <p:spPr>
          <a:xfrm>
            <a:off x="3067050" y="54864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3D6E8"/>
                </a:solidFill>
              </a:defRPr>
            </a:pPr>
            <a:r>
              <a:rPr sz="1050" b="1">
                <a:solidFill>
                  <a:srgbClr val="43D6E8"/>
                </a:solidFill>
              </a:rPr>
              <a:t>方案设计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3A76A19A-4711-4F14-9EFB-8CFDB2BBD463}"/>
              </a:ext>
            </a:extLst>
          </p:cNvPr>
          <p:cNvSpPr>
            <a:spLocks noGrp="1"/>
          </p:cNvSpPr>
          <p:nvPr/>
        </p:nvSpPr>
        <p:spPr>
          <a:xfrm>
            <a:off x="5467350" y="54864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B8FF00"/>
                </a:solidFill>
              </a:defRPr>
            </a:pPr>
            <a:r>
              <a:rPr sz="1050" b="1">
                <a:solidFill>
                  <a:srgbClr val="B8FF00"/>
                </a:solidFill>
              </a:rPr>
              <a:t>工程实现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280F2194-634F-49E7-A701-83910C3D10B9}"/>
              </a:ext>
            </a:extLst>
          </p:cNvPr>
          <p:cNvSpPr>
            <a:spLocks noGrp="1"/>
          </p:cNvSpPr>
          <p:nvPr/>
        </p:nvSpPr>
        <p:spPr>
          <a:xfrm>
            <a:off x="7867650" y="54864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3D6E8"/>
                </a:solidFill>
              </a:defRPr>
            </a:pPr>
            <a:r>
              <a:rPr sz="1050" b="1">
                <a:solidFill>
                  <a:srgbClr val="43D6E8"/>
                </a:solidFill>
              </a:rPr>
              <a:t>生产交付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140AB3A5-8202-4EF4-A1B9-B0FCFBC8F399}"/>
              </a:ext>
            </a:extLst>
          </p:cNvPr>
          <p:cNvSpPr>
            <a:spLocks noGrp="1"/>
          </p:cNvSpPr>
          <p:nvPr/>
        </p:nvSpPr>
        <p:spPr>
          <a:xfrm>
            <a:off x="666750" y="60198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4F7F8"/>
                </a:solidFill>
              </a:defRPr>
            </a:pPr>
            <a:r>
              <a:rPr sz="1650" b="1">
                <a:solidFill>
                  <a:srgbClr val="F4F7F8"/>
                </a:solidFill>
              </a:rPr>
              <a:t>我能够把模糊目标拆成可验证的问题，并将 AI 能力落到可持续运行的真实工作流。</a:t>
            </a:r>
          </a:p>
        </p:txBody>
      </p:sp>
    </p:spTree>
    <p:extLst>
      <p:ext uri="{BB962C8B-B14F-4D97-AF65-F5344CB8AC3E}">
        <p14:creationId xmlns:p14="http://schemas.microsoft.com/office/powerpoint/2010/main" val="7028632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776</Words>
  <Application>Microsoft Office PowerPoint</Application>
  <DocSecurity>0</DocSecurity>
  <PresentationFormat>宽屏</PresentationFormat>
  <Paragraphs>150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yunying</cp:lastModifiedBy>
  <cp:revision>26</cp:revision>
  <dcterms:created xsi:type="dcterms:W3CDTF">2026-08-31T04:49:42Z</dcterms:created>
  <dcterms:modified xsi:type="dcterms:W3CDTF">2026-08-31T11:46:33Z</dcterms:modified>
</cp:coreProperties>
</file>